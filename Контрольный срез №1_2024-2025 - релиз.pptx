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06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12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13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69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64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78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3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52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54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73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98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08290-9CDD-4307-A815-BF6593082BDB}" type="datetimeFigureOut">
              <a:rPr lang="ru-RU" smtClean="0"/>
              <a:pPr/>
              <a:t>07.03.2025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06852-7C24-49EC-B2EE-113ED97FA5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89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32833" y="274014"/>
            <a:ext cx="11709399" cy="22198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ПСП</a:t>
            </a:r>
          </a:p>
          <a:p>
            <a:r>
              <a:rPr lang="ru-RU" dirty="0"/>
              <a:t>Контрольный срез №1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4667" y="897469"/>
            <a:ext cx="12005733" cy="5825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/>
              <a:t>   </a:t>
            </a:r>
            <a:endParaRPr lang="ru-RU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84667" y="3474720"/>
            <a:ext cx="12005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Инструкции</a:t>
            </a:r>
            <a:r>
              <a:rPr lang="en-US" sz="2400" dirty="0"/>
              <a:t>:</a:t>
            </a:r>
          </a:p>
          <a:p>
            <a:pPr marL="342900" indent="-342900">
              <a:buAutoNum type="arabicPeriod"/>
            </a:pPr>
            <a:r>
              <a:rPr lang="ru-RU" sz="2400" dirty="0"/>
              <a:t>Подготовить чистый лист бумаги и ручку (карандаш не используем)</a:t>
            </a:r>
          </a:p>
          <a:p>
            <a:pPr marL="342900" indent="-342900">
              <a:buAutoNum type="arabicPeriod"/>
            </a:pPr>
            <a:r>
              <a:rPr lang="ru-RU" sz="2400" dirty="0"/>
              <a:t>Написать на нем группу, фамилию и инициалы</a:t>
            </a:r>
          </a:p>
          <a:p>
            <a:pPr marL="342900" indent="-342900">
              <a:buAutoNum type="arabicPeriod"/>
            </a:pPr>
            <a:r>
              <a:rPr lang="ru-RU" sz="2400" dirty="0"/>
              <a:t>Сосредоточиться</a:t>
            </a:r>
          </a:p>
          <a:p>
            <a:pPr marL="342900" indent="-342900">
              <a:buAutoNum type="arabicPeriod"/>
            </a:pPr>
            <a:r>
              <a:rPr lang="ru-RU" sz="2400" dirty="0"/>
              <a:t>Приступить</a:t>
            </a:r>
          </a:p>
          <a:p>
            <a:r>
              <a:rPr lang="ru-RU" sz="2400" dirty="0"/>
              <a:t>ВАЖНО! Исправления в ответах принимаются за ошибку</a:t>
            </a:r>
          </a:p>
        </p:txBody>
      </p:sp>
    </p:spTree>
    <p:extLst>
      <p:ext uri="{BB962C8B-B14F-4D97-AF65-F5344CB8AC3E}">
        <p14:creationId xmlns:p14="http://schemas.microsoft.com/office/powerpoint/2010/main" val="309480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3217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</a:t>
            </a:r>
            <a:r>
              <a:rPr lang="ru-RU" sz="2400" dirty="0"/>
              <a:t> Какое утверждение относительно метода верно?</a:t>
            </a: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389467"/>
            <a:ext cx="12056533" cy="6392333"/>
          </a:xfrm>
        </p:spPr>
        <p:txBody>
          <a:bodyPr/>
          <a:lstStyle/>
          <a:p>
            <a:pPr algn="l"/>
            <a:r>
              <a:rPr lang="ru-RU" dirty="0"/>
              <a:t>Выберите один правильный ответ.</a:t>
            </a:r>
          </a:p>
          <a:p>
            <a:pPr algn="l"/>
            <a:r>
              <a:rPr lang="ru-RU" dirty="0"/>
              <a:t>а) Метод реализует абстракцию.</a:t>
            </a:r>
          </a:p>
          <a:p>
            <a:pPr algn="l"/>
            <a:r>
              <a:rPr lang="ru-RU" dirty="0"/>
              <a:t>б) Метод - это атрибут, определяющий свойство конкретной абстракции.</a:t>
            </a:r>
          </a:p>
          <a:p>
            <a:pPr algn="l"/>
            <a:r>
              <a:rPr lang="ru-RU" dirty="0"/>
              <a:t>в) Метод - это категория объектов.</a:t>
            </a:r>
          </a:p>
          <a:p>
            <a:pPr algn="l"/>
            <a:r>
              <a:rPr lang="ru-RU" dirty="0"/>
              <a:t>г) Метод - это действие, определяющее поведение для конкретной абстракции.</a:t>
            </a:r>
          </a:p>
          <a:p>
            <a:pPr algn="l"/>
            <a:r>
              <a:rPr lang="ru-RU" dirty="0"/>
              <a:t>д) Метод - это форма для создания операций.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733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3217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</a:t>
            </a:r>
            <a:r>
              <a:rPr lang="ru-RU" sz="2400" dirty="0"/>
              <a:t> Какое утверждение относительно объекта верно?</a:t>
            </a: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389467"/>
            <a:ext cx="12056533" cy="6392333"/>
          </a:xfrm>
        </p:spPr>
        <p:txBody>
          <a:bodyPr/>
          <a:lstStyle/>
          <a:p>
            <a:pPr algn="l"/>
            <a:r>
              <a:rPr lang="ru-RU" dirty="0"/>
              <a:t>Выберите один правильный ответ.</a:t>
            </a:r>
          </a:p>
          <a:p>
            <a:pPr algn="l"/>
            <a:r>
              <a:rPr lang="ru-RU" dirty="0"/>
              <a:t>а) Объект - это то, из чего порождается класс.</a:t>
            </a:r>
          </a:p>
          <a:p>
            <a:pPr algn="l"/>
            <a:r>
              <a:rPr lang="ru-RU" dirty="0"/>
              <a:t>б) Объект - это экземпляр класса.</a:t>
            </a:r>
          </a:p>
          <a:p>
            <a:pPr algn="l"/>
            <a:r>
              <a:rPr lang="ru-RU" dirty="0"/>
              <a:t>в) Объект - это форма для создания конкретной реализации абстракции.</a:t>
            </a:r>
          </a:p>
          <a:p>
            <a:pPr algn="l"/>
            <a:r>
              <a:rPr lang="ru-RU" dirty="0"/>
              <a:t>г) Объект - это ссылка на атрибут.</a:t>
            </a:r>
          </a:p>
          <a:p>
            <a:pPr algn="l"/>
            <a:r>
              <a:rPr lang="ru-RU" dirty="0"/>
              <a:t>д) Объект - это переменная.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519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6773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3</a:t>
            </a:r>
            <a:r>
              <a:rPr lang="ru-RU" sz="2400" dirty="0"/>
              <a:t> Какая строка содержит конструктор в описании этого класса?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448733"/>
            <a:ext cx="12056533" cy="6333067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public class Counter {	 // (1)                                             </a:t>
            </a:r>
            <a:endParaRPr lang="ru-RU" dirty="0"/>
          </a:p>
          <a:p>
            <a:pPr algn="l"/>
            <a:r>
              <a:rPr lang="en-US" dirty="0" err="1"/>
              <a:t>int</a:t>
            </a:r>
            <a:r>
              <a:rPr lang="en-US" dirty="0"/>
              <a:t> current,   step;</a:t>
            </a:r>
            <a:endParaRPr lang="ru-RU" dirty="0"/>
          </a:p>
          <a:p>
            <a:pPr algn="l"/>
            <a:r>
              <a:rPr lang="en-US" dirty="0"/>
              <a:t>public Counter(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startValue</a:t>
            </a:r>
            <a:r>
              <a:rPr lang="en-US" dirty="0"/>
              <a:t>,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stepValue</a:t>
            </a:r>
            <a:r>
              <a:rPr lang="en-US" dirty="0"/>
              <a:t>)  {</a:t>
            </a:r>
            <a:r>
              <a:rPr lang="ru-RU" dirty="0"/>
              <a:t> </a:t>
            </a:r>
            <a:r>
              <a:rPr lang="en-US" dirty="0"/>
              <a:t>// (2)	                </a:t>
            </a:r>
            <a:endParaRPr lang="ru-RU" dirty="0"/>
          </a:p>
          <a:p>
            <a:pPr algn="l"/>
            <a:r>
              <a:rPr lang="en-US" dirty="0"/>
              <a:t>set(</a:t>
            </a:r>
            <a:r>
              <a:rPr lang="en-US" dirty="0" err="1"/>
              <a:t>startValue</a:t>
            </a:r>
            <a:r>
              <a:rPr lang="en-US" dirty="0"/>
              <a:t>);</a:t>
            </a:r>
            <a:endParaRPr lang="ru-RU" dirty="0"/>
          </a:p>
          <a:p>
            <a:pPr algn="l"/>
            <a:r>
              <a:rPr lang="en-US" dirty="0" err="1"/>
              <a:t>setStepValue</a:t>
            </a:r>
            <a:r>
              <a:rPr lang="en-US" dirty="0"/>
              <a:t>(</a:t>
            </a:r>
            <a:r>
              <a:rPr lang="en-US" dirty="0" err="1"/>
              <a:t>stepValue</a:t>
            </a:r>
            <a:r>
              <a:rPr lang="en-US" dirty="0"/>
              <a:t>);</a:t>
            </a:r>
            <a:endParaRPr lang="ru-RU" dirty="0"/>
          </a:p>
          <a:p>
            <a:pPr algn="l"/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get()  {  return current;   }	   // (3)                             </a:t>
            </a:r>
            <a:endParaRPr lang="ru-RU" dirty="0"/>
          </a:p>
          <a:p>
            <a:pPr algn="l"/>
            <a:r>
              <a:rPr lang="en-US" dirty="0"/>
              <a:t>public void set(</a:t>
            </a:r>
            <a:r>
              <a:rPr lang="en-US" dirty="0" err="1"/>
              <a:t>int</a:t>
            </a:r>
            <a:r>
              <a:rPr lang="en-US" dirty="0"/>
              <a:t> value)  { current = value;   }	// (4)            </a:t>
            </a:r>
            <a:endParaRPr lang="ru-RU" dirty="0"/>
          </a:p>
          <a:p>
            <a:pPr algn="l"/>
            <a:r>
              <a:rPr lang="en-US" dirty="0"/>
              <a:t>public void </a:t>
            </a:r>
            <a:r>
              <a:rPr lang="en-US" dirty="0" err="1"/>
              <a:t>setStepValue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stepValue</a:t>
            </a:r>
            <a:r>
              <a:rPr lang="en-US" dirty="0"/>
              <a:t>) {step = </a:t>
            </a:r>
            <a:r>
              <a:rPr lang="en-US" dirty="0" err="1"/>
              <a:t>stepValue</a:t>
            </a:r>
            <a:r>
              <a:rPr lang="en-US" dirty="0"/>
              <a:t>;}  // (5)</a:t>
            </a:r>
          </a:p>
          <a:p>
            <a:pPr algn="l"/>
            <a:r>
              <a:rPr lang="ru-RU" dirty="0">
                <a:solidFill>
                  <a:srgbClr val="FF0000"/>
                </a:solidFill>
              </a:rPr>
              <a:t>Варианты</a:t>
            </a:r>
            <a:endParaRPr lang="ru-RU" dirty="0"/>
          </a:p>
          <a:p>
            <a:pPr algn="l"/>
            <a:r>
              <a:rPr lang="ru-RU" dirty="0"/>
              <a:t>       а)	Код, обозначенный (1) - это конструктор.</a:t>
            </a:r>
          </a:p>
          <a:p>
            <a:pPr algn="l"/>
            <a:r>
              <a:rPr lang="ru-RU" dirty="0"/>
              <a:t>       б)	Код, обозначенный (2) - это конструктор.</a:t>
            </a:r>
          </a:p>
          <a:p>
            <a:pPr algn="l"/>
            <a:r>
              <a:rPr lang="ru-RU" dirty="0"/>
              <a:t>       в)	Код, обозначенный (3) - это конструктор.</a:t>
            </a:r>
          </a:p>
          <a:p>
            <a:pPr algn="l"/>
            <a:r>
              <a:rPr lang="ru-RU" dirty="0"/>
              <a:t>       г)	Код, обозначенный (4) - это конструктор.</a:t>
            </a:r>
          </a:p>
          <a:p>
            <a:pPr algn="l"/>
            <a:r>
              <a:rPr lang="ru-RU" dirty="0"/>
              <a:t>       д)  Код, обозначенный (5) - это конструктор.</a:t>
            </a:r>
          </a:p>
          <a:p>
            <a:pPr algn="l"/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27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1532466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4</a:t>
            </a:r>
            <a:r>
              <a:rPr lang="ru-RU" sz="2400" dirty="0"/>
              <a:t> Учитывая, что </a:t>
            </a:r>
            <a:r>
              <a:rPr lang="en-US" sz="2400" dirty="0"/>
              <a:t>Thing</a:t>
            </a:r>
            <a:r>
              <a:rPr lang="ru-RU" sz="2400" dirty="0"/>
              <a:t> — это класс, как много объектов и как много ссылочных</a:t>
            </a:r>
            <a:r>
              <a:rPr lang="en-US" sz="2400" dirty="0"/>
              <a:t> </a:t>
            </a:r>
            <a:r>
              <a:rPr lang="ru-RU" sz="2400" dirty="0"/>
              <a:t>переменных создается в следующем программном коде?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1432560"/>
            <a:ext cx="12056533" cy="5349240"/>
          </a:xfrm>
        </p:spPr>
        <p:txBody>
          <a:bodyPr>
            <a:normAutofit/>
          </a:bodyPr>
          <a:lstStyle/>
          <a:p>
            <a:pPr algn="l"/>
            <a:r>
              <a:rPr lang="en-US" sz="2600" dirty="0"/>
              <a:t>Thing item,   stuff;</a:t>
            </a:r>
            <a:endParaRPr lang="ru-RU" sz="2600" dirty="0"/>
          </a:p>
          <a:p>
            <a:pPr algn="l"/>
            <a:r>
              <a:rPr lang="en-US" sz="2600" dirty="0"/>
              <a:t>item = new Thing();</a:t>
            </a:r>
            <a:endParaRPr lang="ru-RU" sz="2600" dirty="0"/>
          </a:p>
          <a:p>
            <a:pPr algn="l"/>
            <a:r>
              <a:rPr lang="en-US" sz="2600" dirty="0"/>
              <a:t>Thing entity</a:t>
            </a:r>
            <a:r>
              <a:rPr lang="ru-RU" sz="2600" dirty="0"/>
              <a:t> = </a:t>
            </a:r>
            <a:r>
              <a:rPr lang="en-US" sz="2600" dirty="0"/>
              <a:t>new Thing</a:t>
            </a:r>
            <a:r>
              <a:rPr lang="ru-RU" sz="2600" dirty="0"/>
              <a:t>();</a:t>
            </a:r>
          </a:p>
          <a:p>
            <a:pPr algn="l"/>
            <a:r>
              <a:rPr lang="ru-RU" sz="2600" dirty="0">
                <a:solidFill>
                  <a:srgbClr val="FF0000"/>
                </a:solidFill>
              </a:rPr>
              <a:t>Выберите два правильных ответа</a:t>
            </a:r>
            <a:endParaRPr lang="ru-RU" sz="2600" dirty="0"/>
          </a:p>
          <a:p>
            <a:pPr algn="l"/>
            <a:r>
              <a:rPr lang="ru-RU" sz="2600" dirty="0"/>
              <a:t>а) Один объект создается.</a:t>
            </a:r>
          </a:p>
          <a:p>
            <a:pPr algn="l"/>
            <a:r>
              <a:rPr lang="ru-RU" sz="2600" dirty="0"/>
              <a:t>б) Два объекта создается.</a:t>
            </a:r>
          </a:p>
          <a:p>
            <a:pPr algn="l"/>
            <a:r>
              <a:rPr lang="ru-RU" sz="2600" dirty="0"/>
              <a:t>в) Три объекта создается.</a:t>
            </a:r>
          </a:p>
          <a:p>
            <a:pPr algn="l"/>
            <a:r>
              <a:rPr lang="ru-RU" sz="2600" dirty="0"/>
              <a:t>г) Одна ссылочная переменная создается.</a:t>
            </a:r>
          </a:p>
          <a:p>
            <a:pPr algn="l"/>
            <a:r>
              <a:rPr lang="ru-RU" sz="2600" dirty="0"/>
              <a:t>д) Две ссылочные переменные создаются.</a:t>
            </a:r>
          </a:p>
          <a:p>
            <a:pPr algn="l"/>
            <a:r>
              <a:rPr lang="ru-RU" sz="2600" dirty="0"/>
              <a:t>е) Три ссылочные переменные создаются.</a:t>
            </a:r>
          </a:p>
          <a:p>
            <a:pPr algn="l"/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641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6857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5</a:t>
            </a:r>
            <a:r>
              <a:rPr lang="ru-RU" sz="2400" dirty="0"/>
              <a:t> Какое утверждение верно о члене экземпляра (</a:t>
            </a:r>
            <a:r>
              <a:rPr lang="en-US" sz="2400" dirty="0"/>
              <a:t>instance member</a:t>
            </a:r>
            <a:r>
              <a:rPr lang="ru-RU" sz="2400" dirty="0"/>
              <a:t>)?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FF0000"/>
                </a:solidFill>
              </a:rPr>
              <a:t>Выберите один правильный ответ</a:t>
            </a:r>
            <a:endParaRPr lang="ru-RU" dirty="0"/>
          </a:p>
          <a:p>
            <a:pPr algn="l"/>
            <a:r>
              <a:rPr lang="ru-RU" dirty="0"/>
              <a:t>а) Член экземпляра также называется статическим членом.</a:t>
            </a:r>
          </a:p>
          <a:p>
            <a:pPr algn="l"/>
            <a:r>
              <a:rPr lang="ru-RU" dirty="0"/>
              <a:t>б) Член экземпляра - это всегда поле.</a:t>
            </a:r>
          </a:p>
          <a:p>
            <a:pPr algn="l"/>
            <a:r>
              <a:rPr lang="ru-RU" dirty="0"/>
              <a:t>в) Член экземпляра никогда не является методом.</a:t>
            </a:r>
          </a:p>
          <a:p>
            <a:pPr algn="l"/>
            <a:r>
              <a:rPr lang="ru-RU" dirty="0"/>
              <a:t>г) Член экземпляра принадлежит экземпляру, а не классу в целом.</a:t>
            </a:r>
          </a:p>
          <a:p>
            <a:pPr algn="l"/>
            <a:r>
              <a:rPr lang="ru-RU" dirty="0"/>
              <a:t>д) Член класса всегда представляет операцию.</a:t>
            </a:r>
          </a:p>
          <a:p>
            <a:pPr algn="l"/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32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4317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6</a:t>
            </a:r>
            <a:r>
              <a:rPr lang="ru-RU" sz="2400" dirty="0"/>
              <a:t> Учитывая следующий код, какое утверждение верно?</a:t>
            </a: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class A  {</a:t>
            </a:r>
            <a:endParaRPr lang="ru-RU" dirty="0"/>
          </a:p>
          <a:p>
            <a:pPr algn="l"/>
            <a:r>
              <a:rPr lang="en-US" dirty="0" err="1"/>
              <a:t>int</a:t>
            </a:r>
            <a:r>
              <a:rPr lang="en-US" dirty="0"/>
              <a:t> value1;</a:t>
            </a:r>
            <a:endParaRPr lang="ru-RU" dirty="0"/>
          </a:p>
          <a:p>
            <a:pPr algn="l"/>
            <a:r>
              <a:rPr lang="en-US" dirty="0"/>
              <a:t>}</a:t>
            </a:r>
            <a:endParaRPr lang="ru-RU" dirty="0"/>
          </a:p>
          <a:p>
            <a:pPr algn="l"/>
            <a:r>
              <a:rPr lang="en-US" dirty="0"/>
              <a:t>class </a:t>
            </a:r>
            <a:r>
              <a:rPr lang="ru-RU" dirty="0"/>
              <a:t>В</a:t>
            </a:r>
            <a:r>
              <a:rPr lang="en-US" dirty="0"/>
              <a:t> extends A {</a:t>
            </a:r>
            <a:endParaRPr lang="ru-RU" dirty="0"/>
          </a:p>
          <a:p>
            <a:pPr algn="l"/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value</a:t>
            </a:r>
            <a:r>
              <a:rPr lang="ru-RU" dirty="0"/>
              <a:t>2;</a:t>
            </a:r>
          </a:p>
          <a:p>
            <a:pPr algn="l"/>
            <a:r>
              <a:rPr lang="en-US" dirty="0"/>
              <a:t>}</a:t>
            </a:r>
            <a:endParaRPr lang="ru-RU" dirty="0"/>
          </a:p>
          <a:p>
            <a:pPr algn="l"/>
            <a:r>
              <a:rPr lang="ru-RU" dirty="0">
                <a:solidFill>
                  <a:srgbClr val="FF0000"/>
                </a:solidFill>
              </a:rPr>
              <a:t>Выберите два правильных ответа</a:t>
            </a:r>
          </a:p>
          <a:p>
            <a:pPr algn="l"/>
            <a:r>
              <a:rPr lang="ru-RU" dirty="0"/>
              <a:t>а) Класс А расширяет класс В.</a:t>
            </a:r>
          </a:p>
          <a:p>
            <a:pPr algn="l"/>
            <a:r>
              <a:rPr lang="ru-RU" dirty="0"/>
              <a:t>б) Класс В - это суперкласс для класса А.</a:t>
            </a:r>
          </a:p>
          <a:p>
            <a:pPr algn="l"/>
            <a:r>
              <a:rPr lang="ru-RU" dirty="0"/>
              <a:t>в) Класс А наследует от класса В.</a:t>
            </a:r>
          </a:p>
          <a:p>
            <a:pPr algn="l"/>
            <a:r>
              <a:rPr lang="ru-RU" dirty="0"/>
              <a:t>г) Класс В - это подкласс класса А.</a:t>
            </a:r>
          </a:p>
          <a:p>
            <a:pPr algn="l"/>
            <a:r>
              <a:rPr lang="ru-RU" dirty="0"/>
              <a:t>д) Объекты класса А имеют поле с именем </a:t>
            </a:r>
            <a:r>
              <a:rPr lang="en-US" dirty="0"/>
              <a:t>value</a:t>
            </a:r>
            <a:r>
              <a:rPr lang="ru-RU" dirty="0"/>
              <a:t>2.</a:t>
            </a:r>
          </a:p>
          <a:p>
            <a:pPr algn="l"/>
            <a:r>
              <a:rPr lang="ru-RU" dirty="0"/>
              <a:t>е) Объекты класса В имеют поле с именем </a:t>
            </a:r>
            <a:r>
              <a:rPr lang="en-US" dirty="0"/>
              <a:t>value</a:t>
            </a:r>
            <a:r>
              <a:rPr lang="ru-RU" dirty="0"/>
              <a:t>1.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76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1006922"/>
          </a:xfrm>
        </p:spPr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rgbClr val="FF0000"/>
                </a:solidFill>
              </a:rPr>
              <a:t>Вопрос 7</a:t>
            </a:r>
            <a:r>
              <a:rPr lang="ru-RU" sz="2800" dirty="0"/>
              <a:t> Какую команду из </a:t>
            </a:r>
            <a:r>
              <a:rPr lang="en-US" sz="2800" dirty="0"/>
              <a:t>Java SDK </a:t>
            </a:r>
            <a:r>
              <a:rPr lang="ru-RU" sz="2800" dirty="0"/>
              <a:t>следует использовать для того, чтобы скомпилировать следующий код, содержащийся в файле </a:t>
            </a:r>
            <a:r>
              <a:rPr lang="en-US" sz="2800" dirty="0" err="1"/>
              <a:t>SmallProg</a:t>
            </a:r>
            <a:r>
              <a:rPr lang="ru-RU" sz="2800" dirty="0"/>
              <a:t>.</a:t>
            </a:r>
            <a:r>
              <a:rPr lang="en-US" sz="2800" dirty="0"/>
              <a:t>java</a:t>
            </a:r>
            <a:r>
              <a:rPr lang="ru-RU" sz="2800" dirty="0"/>
              <a:t>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endParaRPr lang="ru-RU" dirty="0"/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public class </a:t>
            </a:r>
            <a:r>
              <a:rPr lang="en-US" sz="2800" dirty="0" err="1"/>
              <a:t>SmallProg</a:t>
            </a:r>
            <a:r>
              <a:rPr lang="en-US" sz="2800" dirty="0"/>
              <a:t>  {</a:t>
            </a:r>
            <a:endParaRPr lang="ru-RU" sz="2800" dirty="0"/>
          </a:p>
          <a:p>
            <a:pPr algn="l"/>
            <a:r>
              <a:rPr lang="en-US" sz="2800" dirty="0"/>
              <a:t>public static void main (String[] </a:t>
            </a:r>
            <a:r>
              <a:rPr lang="en-US" sz="2800" dirty="0" err="1"/>
              <a:t>args</a:t>
            </a:r>
            <a:r>
              <a:rPr lang="en-US" sz="2800" dirty="0"/>
              <a:t>)</a:t>
            </a:r>
            <a:endParaRPr lang="ru-RU" sz="2800" dirty="0"/>
          </a:p>
          <a:p>
            <a:pPr algn="l"/>
            <a:r>
              <a:rPr lang="en-US" sz="2800" dirty="0"/>
              <a:t>{</a:t>
            </a:r>
            <a:r>
              <a:rPr lang="ru-RU" sz="2800" dirty="0"/>
              <a:t> </a:t>
            </a:r>
            <a:r>
              <a:rPr lang="en-US" sz="2800" dirty="0" err="1"/>
              <a:t>System.out.println</a:t>
            </a:r>
            <a:r>
              <a:rPr lang="en-US" sz="2800" dirty="0"/>
              <a:t>("Good luck!");   } }</a:t>
            </a:r>
            <a:endParaRPr lang="ru-RU" sz="2800" dirty="0"/>
          </a:p>
          <a:p>
            <a:pPr algn="l"/>
            <a:r>
              <a:rPr lang="ru-RU" sz="2800" dirty="0">
                <a:solidFill>
                  <a:srgbClr val="FF0000"/>
                </a:solidFill>
              </a:rPr>
              <a:t>Выберите один правильный ответ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а) </a:t>
            </a:r>
            <a:r>
              <a:rPr lang="en-US" sz="2800" dirty="0" err="1"/>
              <a:t>javac</a:t>
            </a:r>
            <a:r>
              <a:rPr lang="en-US" sz="2800" dirty="0"/>
              <a:t> </a:t>
            </a:r>
            <a:r>
              <a:rPr lang="en-US" sz="2800" dirty="0" err="1"/>
              <a:t>SmallProg</a:t>
            </a:r>
            <a:endParaRPr lang="ru-RU" sz="28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б</a:t>
            </a:r>
            <a:r>
              <a:rPr lang="en-US" sz="2800" dirty="0"/>
              <a:t>)</a:t>
            </a:r>
            <a:r>
              <a:rPr lang="ru-RU" sz="2800" dirty="0"/>
              <a:t> </a:t>
            </a:r>
            <a:r>
              <a:rPr lang="en-US" sz="2800" dirty="0" err="1"/>
              <a:t>javac</a:t>
            </a:r>
            <a:r>
              <a:rPr lang="en-US" sz="2800" dirty="0"/>
              <a:t> SmallProg.java</a:t>
            </a:r>
            <a:br>
              <a:rPr lang="en-US" sz="2800" dirty="0"/>
            </a:br>
            <a:r>
              <a:rPr lang="ru-RU" sz="2800" dirty="0"/>
              <a:t>в</a:t>
            </a:r>
            <a:r>
              <a:rPr lang="en-US" sz="2800" dirty="0"/>
              <a:t>) </a:t>
            </a:r>
            <a:r>
              <a:rPr lang="en-US" sz="2800" dirty="0" err="1"/>
              <a:t>javac</a:t>
            </a:r>
            <a:r>
              <a:rPr lang="en-US" sz="2800" dirty="0"/>
              <a:t> </a:t>
            </a:r>
            <a:r>
              <a:rPr lang="en-US" sz="2800" dirty="0" err="1"/>
              <a:t>SmallProg.main</a:t>
            </a:r>
            <a:r>
              <a:rPr lang="en-US" sz="2800" dirty="0"/>
              <a:t>()</a:t>
            </a:r>
            <a:endParaRPr lang="ru-RU" sz="2800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674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12234"/>
            <a:ext cx="12056533" cy="685799"/>
          </a:xfrm>
        </p:spPr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rgbClr val="FF0000"/>
                </a:solidFill>
              </a:rPr>
              <a:t>Вопрос 8</a:t>
            </a:r>
            <a:r>
              <a:rPr lang="ru-RU" sz="2800" dirty="0"/>
              <a:t> Какую команду из </a:t>
            </a:r>
            <a:r>
              <a:rPr lang="en-US" sz="2800" dirty="0"/>
              <a:t>Java SDK </a:t>
            </a:r>
            <a:r>
              <a:rPr lang="ru-RU" sz="2800" dirty="0"/>
              <a:t>следует использовать для того, чтобы выполнить</a:t>
            </a:r>
            <a:r>
              <a:rPr lang="en-US" sz="2800" dirty="0"/>
              <a:t> </a:t>
            </a:r>
            <a:r>
              <a:rPr lang="ru-RU" sz="2800" dirty="0"/>
              <a:t>метод </a:t>
            </a:r>
            <a:r>
              <a:rPr lang="en-US" sz="2800" dirty="0"/>
              <a:t>main</a:t>
            </a:r>
            <a:r>
              <a:rPr lang="ru-RU" sz="2800" dirty="0"/>
              <a:t>() класса с именем </a:t>
            </a:r>
            <a:r>
              <a:rPr lang="en-US" sz="2800" dirty="0" err="1"/>
              <a:t>SmallProg</a:t>
            </a:r>
            <a:r>
              <a:rPr lang="ru-RU" sz="2800" dirty="0"/>
              <a:t>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1432874"/>
            <a:ext cx="12056533" cy="5348926"/>
          </a:xfrm>
        </p:spPr>
        <p:txBody>
          <a:bodyPr>
            <a:normAutofit/>
          </a:bodyPr>
          <a:lstStyle/>
          <a:p>
            <a:pPr algn="l"/>
            <a:endParaRPr lang="ru-RU" sz="2800" dirty="0"/>
          </a:p>
          <a:p>
            <a:pPr algn="l"/>
            <a:r>
              <a:rPr lang="en-US" sz="2800" dirty="0"/>
              <a:t>public class </a:t>
            </a:r>
            <a:r>
              <a:rPr lang="en-US" sz="2800" dirty="0" err="1"/>
              <a:t>SmallProg</a:t>
            </a:r>
            <a:r>
              <a:rPr lang="en-US" sz="2800" dirty="0"/>
              <a:t>  {</a:t>
            </a:r>
            <a:endParaRPr lang="ru-RU" sz="2800" dirty="0"/>
          </a:p>
          <a:p>
            <a:pPr algn="l"/>
            <a:r>
              <a:rPr lang="en-US" sz="2800" dirty="0"/>
              <a:t>public static void main (String[] </a:t>
            </a:r>
            <a:r>
              <a:rPr lang="en-US" sz="2800" dirty="0" err="1"/>
              <a:t>args</a:t>
            </a:r>
            <a:r>
              <a:rPr lang="en-US" sz="2800" dirty="0"/>
              <a:t>)</a:t>
            </a:r>
            <a:endParaRPr lang="ru-RU" sz="2800" dirty="0"/>
          </a:p>
          <a:p>
            <a:pPr algn="l"/>
            <a:r>
              <a:rPr lang="en-US" sz="2800" dirty="0"/>
              <a:t>{</a:t>
            </a:r>
            <a:r>
              <a:rPr lang="ru-RU" sz="2800" dirty="0"/>
              <a:t> </a:t>
            </a:r>
            <a:r>
              <a:rPr lang="en-US" sz="2800" dirty="0" err="1"/>
              <a:t>System.out.println</a:t>
            </a:r>
            <a:r>
              <a:rPr lang="en-US" sz="2800" dirty="0"/>
              <a:t>("Good luck!");   } }</a:t>
            </a:r>
            <a:endParaRPr lang="ru-RU" sz="2800" dirty="0"/>
          </a:p>
          <a:p>
            <a:pPr algn="l"/>
            <a:r>
              <a:rPr lang="ru-RU" sz="2800" dirty="0">
                <a:solidFill>
                  <a:srgbClr val="FF0000"/>
                </a:solidFill>
              </a:rPr>
              <a:t>Выберите один правильный ответ</a:t>
            </a:r>
          </a:p>
          <a:p>
            <a:pPr algn="l"/>
            <a:r>
              <a:rPr lang="ru-RU" sz="2800" dirty="0"/>
              <a:t>а) </a:t>
            </a:r>
            <a:r>
              <a:rPr lang="en-US" sz="2800" dirty="0"/>
              <a:t>java </a:t>
            </a:r>
            <a:r>
              <a:rPr lang="en-US" sz="2800" dirty="0" err="1"/>
              <a:t>SmallProg</a:t>
            </a:r>
            <a:endParaRPr lang="ru-RU" sz="2800" dirty="0"/>
          </a:p>
          <a:p>
            <a:pPr algn="l"/>
            <a:r>
              <a:rPr lang="ru-RU" sz="2800" dirty="0"/>
              <a:t>б</a:t>
            </a:r>
            <a:r>
              <a:rPr lang="en-US" sz="2800" dirty="0"/>
              <a:t>)</a:t>
            </a:r>
            <a:r>
              <a:rPr lang="ru-RU" sz="2800" dirty="0"/>
              <a:t> </a:t>
            </a:r>
            <a:r>
              <a:rPr lang="en-US" sz="2800" dirty="0"/>
              <a:t>java SmallProg.java</a:t>
            </a:r>
            <a:endParaRPr lang="ru-RU" sz="2800" dirty="0"/>
          </a:p>
          <a:p>
            <a:pPr algn="l"/>
            <a:r>
              <a:rPr lang="ru-RU" sz="2800" dirty="0"/>
              <a:t>в</a:t>
            </a:r>
            <a:r>
              <a:rPr lang="en-US" sz="2800" dirty="0"/>
              <a:t>)</a:t>
            </a:r>
            <a:r>
              <a:rPr lang="ru-RU" sz="2800" dirty="0"/>
              <a:t> </a:t>
            </a:r>
            <a:r>
              <a:rPr lang="en-US" sz="2800" dirty="0"/>
              <a:t>java </a:t>
            </a:r>
            <a:r>
              <a:rPr lang="en-US" sz="2800" dirty="0" err="1"/>
              <a:t>SmallProg.class</a:t>
            </a:r>
            <a:endParaRPr lang="ru-RU" sz="2800" dirty="0"/>
          </a:p>
          <a:p>
            <a:pPr algn="l"/>
            <a:r>
              <a:rPr lang="ru-RU" sz="2800" dirty="0"/>
              <a:t>г</a:t>
            </a:r>
            <a:r>
              <a:rPr lang="en-US" sz="2800" dirty="0"/>
              <a:t>)</a:t>
            </a:r>
            <a:r>
              <a:rPr lang="ru-RU" sz="2800" dirty="0"/>
              <a:t> </a:t>
            </a:r>
            <a:r>
              <a:rPr lang="en-US" sz="2800" dirty="0"/>
              <a:t>java </a:t>
            </a:r>
            <a:r>
              <a:rPr lang="en-US" sz="2800" dirty="0" err="1"/>
              <a:t>SmallProg.main</a:t>
            </a:r>
            <a:r>
              <a:rPr lang="en-US" sz="2800" dirty="0"/>
              <a:t>()</a:t>
            </a:r>
            <a:endParaRPr lang="ru-RU" sz="2800" dirty="0"/>
          </a:p>
          <a:p>
            <a:pPr algn="l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5546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056533" cy="6857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9</a:t>
            </a:r>
            <a:r>
              <a:rPr lang="ru-RU" sz="2400" dirty="0"/>
              <a:t> Что из следующего не является разрешенным идентификатором? </a:t>
            </a: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а) </a:t>
            </a:r>
            <a:r>
              <a:rPr lang="en-US" dirty="0"/>
              <a:t>a</a:t>
            </a:r>
            <a:r>
              <a:rPr lang="ru-RU" dirty="0"/>
              <a:t>2</a:t>
            </a:r>
            <a:r>
              <a:rPr lang="en-US" dirty="0"/>
              <a:t>z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б) </a:t>
            </a:r>
            <a:r>
              <a:rPr lang="en-US" dirty="0" err="1"/>
              <a:t>dipus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в) 52</a:t>
            </a:r>
            <a:r>
              <a:rPr lang="en-US" dirty="0"/>
              <a:t>pickup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г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_class</a:t>
            </a:r>
            <a:br>
              <a:rPr lang="en-US" dirty="0"/>
            </a:br>
            <a:r>
              <a:rPr lang="ru-RU" dirty="0"/>
              <a:t>д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 err="1"/>
              <a:t>ca$h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594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6857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10</a:t>
            </a:r>
            <a:r>
              <a:rPr lang="ru-RU" sz="2400" dirty="0"/>
              <a:t> Какое утверждение верно?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FF0000"/>
                </a:solidFill>
              </a:rPr>
              <a:t>Выберите один правильный ответ</a:t>
            </a:r>
          </a:p>
          <a:p>
            <a:pPr algn="l"/>
            <a:r>
              <a:rPr lang="ru-RU" dirty="0"/>
              <a:t>а) </a:t>
            </a:r>
            <a:r>
              <a:rPr lang="en-US" dirty="0"/>
              <a:t>new</a:t>
            </a:r>
            <a:r>
              <a:rPr lang="ru-RU" dirty="0"/>
              <a:t> и </a:t>
            </a:r>
            <a:r>
              <a:rPr lang="en-US" dirty="0"/>
              <a:t>delete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/>
            <a:r>
              <a:rPr lang="ru-RU" dirty="0"/>
              <a:t>б) </a:t>
            </a:r>
            <a:r>
              <a:rPr lang="en-US" dirty="0"/>
              <a:t>try</a:t>
            </a:r>
            <a:r>
              <a:rPr lang="ru-RU" dirty="0"/>
              <a:t>, </a:t>
            </a:r>
            <a:r>
              <a:rPr lang="en-US" dirty="0"/>
              <a:t>catch</a:t>
            </a:r>
            <a:r>
              <a:rPr lang="ru-RU" dirty="0"/>
              <a:t> и </a:t>
            </a:r>
            <a:r>
              <a:rPr lang="en-US" dirty="0"/>
              <a:t>thrown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/>
            <a:r>
              <a:rPr lang="ru-RU" dirty="0"/>
              <a:t>в) </a:t>
            </a:r>
            <a:r>
              <a:rPr lang="en-US" dirty="0"/>
              <a:t>static</a:t>
            </a:r>
            <a:r>
              <a:rPr lang="ru-RU" dirty="0"/>
              <a:t>, </a:t>
            </a:r>
            <a:r>
              <a:rPr lang="en-US" dirty="0"/>
              <a:t>unsigned</a:t>
            </a:r>
            <a:r>
              <a:rPr lang="ru-RU" dirty="0"/>
              <a:t> и </a:t>
            </a:r>
            <a:r>
              <a:rPr lang="en-US" dirty="0"/>
              <a:t>long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/>
            <a:r>
              <a:rPr lang="ru-RU" dirty="0"/>
              <a:t>г) </a:t>
            </a:r>
            <a:r>
              <a:rPr lang="en-US" dirty="0"/>
              <a:t>exit</a:t>
            </a:r>
            <a:r>
              <a:rPr lang="ru-RU" dirty="0"/>
              <a:t>, </a:t>
            </a:r>
            <a:r>
              <a:rPr lang="en-US" dirty="0"/>
              <a:t>class</a:t>
            </a:r>
            <a:r>
              <a:rPr lang="ru-RU" dirty="0"/>
              <a:t> и </a:t>
            </a:r>
            <a:r>
              <a:rPr lang="en-US" dirty="0"/>
              <a:t>while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/>
            <a:r>
              <a:rPr lang="ru-RU" dirty="0"/>
              <a:t>д) </a:t>
            </a:r>
            <a:r>
              <a:rPr lang="en-US" dirty="0"/>
              <a:t>return</a:t>
            </a:r>
            <a:r>
              <a:rPr lang="ru-RU" dirty="0"/>
              <a:t>, </a:t>
            </a:r>
            <a:r>
              <a:rPr lang="en-US" dirty="0" err="1"/>
              <a:t>goto</a:t>
            </a:r>
            <a:r>
              <a:rPr lang="ru-RU" dirty="0"/>
              <a:t> и </a:t>
            </a:r>
            <a:r>
              <a:rPr lang="en-US" dirty="0"/>
              <a:t>default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/>
            <a:r>
              <a:rPr lang="ru-RU" dirty="0"/>
              <a:t>е) </a:t>
            </a:r>
            <a:r>
              <a:rPr lang="en-US" dirty="0"/>
              <a:t>for</a:t>
            </a:r>
            <a:r>
              <a:rPr lang="ru-RU" dirty="0"/>
              <a:t>, </a:t>
            </a:r>
            <a:r>
              <a:rPr lang="en-US" dirty="0"/>
              <a:t>while</a:t>
            </a:r>
            <a:r>
              <a:rPr lang="ru-RU" dirty="0"/>
              <a:t> и </a:t>
            </a:r>
            <a:r>
              <a:rPr lang="en-US" dirty="0"/>
              <a:t>next</a:t>
            </a:r>
            <a:r>
              <a:rPr lang="ru-RU" dirty="0"/>
              <a:t> - это ключевые слова в языке </a:t>
            </a:r>
            <a:r>
              <a:rPr lang="en-US" dirty="0"/>
              <a:t>Java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8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6857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11</a:t>
            </a:r>
            <a:r>
              <a:rPr lang="ru-RU" sz="2400" dirty="0"/>
              <a:t> Что из перечисленного не представляет примитивное значение в </a:t>
            </a:r>
            <a:r>
              <a:rPr lang="en-US" sz="2400" dirty="0"/>
              <a:t>Java</a:t>
            </a:r>
            <a:r>
              <a:rPr lang="ru-RU" sz="2400" dirty="0"/>
              <a:t>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FF0000"/>
                </a:solidFill>
              </a:rPr>
              <a:t>Варианты</a:t>
            </a:r>
          </a:p>
          <a:p>
            <a:pPr algn="l"/>
            <a:r>
              <a:rPr lang="ru-RU" dirty="0"/>
              <a:t>а) </a:t>
            </a:r>
            <a:r>
              <a:rPr lang="en-US" dirty="0"/>
              <a:t>“</a:t>
            </a:r>
            <a:r>
              <a:rPr lang="ru-RU" dirty="0"/>
              <a:t>Г</a:t>
            </a:r>
            <a:r>
              <a:rPr lang="en-US" dirty="0"/>
              <a:t>”</a:t>
            </a:r>
            <a:endParaRPr lang="ru-RU" dirty="0"/>
          </a:p>
          <a:p>
            <a:pPr algn="l"/>
            <a:r>
              <a:rPr lang="ru-RU" dirty="0"/>
              <a:t>б) </a:t>
            </a:r>
            <a:r>
              <a:rPr lang="en-US" dirty="0"/>
              <a:t>‘</a:t>
            </a:r>
            <a:r>
              <a:rPr lang="ru-RU" dirty="0"/>
              <a:t>к</a:t>
            </a:r>
            <a:r>
              <a:rPr lang="en-US" dirty="0"/>
              <a:t>’</a:t>
            </a:r>
            <a:r>
              <a:rPr lang="ru-RU" dirty="0"/>
              <a:t> </a:t>
            </a:r>
          </a:p>
          <a:p>
            <a:pPr algn="l"/>
            <a:r>
              <a:rPr lang="ru-RU" dirty="0"/>
              <a:t>в) 50.5</a:t>
            </a:r>
            <a:r>
              <a:rPr lang="en-US" dirty="0"/>
              <a:t>F</a:t>
            </a:r>
            <a:endParaRPr lang="ru-RU" dirty="0"/>
          </a:p>
          <a:p>
            <a:pPr algn="l"/>
            <a:r>
              <a:rPr lang="ru-RU" dirty="0"/>
              <a:t>г) "</a:t>
            </a:r>
            <a:r>
              <a:rPr lang="en-US" dirty="0"/>
              <a:t>hello</a:t>
            </a:r>
            <a:r>
              <a:rPr lang="ru-RU" dirty="0"/>
              <a:t>"</a:t>
            </a:r>
          </a:p>
          <a:p>
            <a:pPr algn="l"/>
            <a:r>
              <a:rPr lang="ru-RU" dirty="0"/>
              <a:t>д) </a:t>
            </a:r>
            <a:r>
              <a:rPr lang="en-US" dirty="0"/>
              <a:t>false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16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67734"/>
            <a:ext cx="12056533" cy="1075266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12</a:t>
            </a:r>
            <a:r>
              <a:rPr lang="ru-RU" sz="2400" dirty="0"/>
              <a:t> Какие из следующих примитивных типов данных не являются целыми типами?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FF0000"/>
                </a:solidFill>
              </a:rPr>
              <a:t>Варианты</a:t>
            </a:r>
          </a:p>
          <a:p>
            <a:pPr algn="l"/>
            <a:r>
              <a:rPr lang="ru-RU" dirty="0"/>
              <a:t>а) Тип </a:t>
            </a:r>
            <a:r>
              <a:rPr lang="en-US" dirty="0" err="1"/>
              <a:t>boolean</a:t>
            </a:r>
            <a:endParaRPr lang="ru-RU" dirty="0"/>
          </a:p>
          <a:p>
            <a:pPr algn="l"/>
            <a:r>
              <a:rPr lang="ru-RU" dirty="0"/>
              <a:t>б) Тип </a:t>
            </a:r>
            <a:r>
              <a:rPr lang="en-US" dirty="0"/>
              <a:t>byte</a:t>
            </a:r>
            <a:endParaRPr lang="ru-RU" dirty="0"/>
          </a:p>
          <a:p>
            <a:pPr algn="l"/>
            <a:r>
              <a:rPr lang="ru-RU" dirty="0"/>
              <a:t>в) Тип </a:t>
            </a:r>
            <a:r>
              <a:rPr lang="en-US" dirty="0"/>
              <a:t>float</a:t>
            </a:r>
            <a:endParaRPr lang="ru-RU" dirty="0"/>
          </a:p>
          <a:p>
            <a:pPr algn="l"/>
            <a:r>
              <a:rPr lang="ru-RU" dirty="0"/>
              <a:t>г)  Тип </a:t>
            </a:r>
            <a:r>
              <a:rPr lang="en-US" dirty="0"/>
              <a:t>short</a:t>
            </a:r>
            <a:endParaRPr lang="ru-RU" dirty="0"/>
          </a:p>
          <a:p>
            <a:pPr algn="l"/>
            <a:r>
              <a:rPr lang="ru-RU" dirty="0"/>
              <a:t>д) Тип </a:t>
            </a:r>
            <a:r>
              <a:rPr lang="en-US" dirty="0"/>
              <a:t>double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978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54000"/>
            <a:ext cx="12056533" cy="629920"/>
          </a:xfrm>
        </p:spPr>
        <p:txBody>
          <a:bodyPr>
            <a:noAutofit/>
          </a:bodyPr>
          <a:lstStyle/>
          <a:p>
            <a:pPr algn="l"/>
            <a:r>
              <a:rPr lang="ru-RU" sz="2000" dirty="0">
                <a:solidFill>
                  <a:srgbClr val="FF0000"/>
                </a:solidFill>
              </a:rPr>
              <a:t>Вопрос 13</a:t>
            </a:r>
            <a:r>
              <a:rPr lang="ru-RU" sz="2000" dirty="0"/>
              <a:t> Что произойдет в результате попытки откомпилировать и выполнить следующую</a:t>
            </a:r>
            <a:br>
              <a:rPr lang="ru-RU" sz="2000" dirty="0"/>
            </a:br>
            <a:r>
              <a:rPr lang="ru-RU" sz="2000" dirty="0"/>
              <a:t>программу?</a:t>
            </a:r>
            <a:r>
              <a:rPr lang="ru-RU" sz="2400" dirty="0"/>
              <a:t/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public class Test   {</a:t>
            </a:r>
          </a:p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</a:t>
            </a:r>
          </a:p>
          <a:p>
            <a:pPr algn="l"/>
            <a:r>
              <a:rPr lang="en-US" dirty="0" err="1"/>
              <a:t>int</a:t>
            </a:r>
            <a:r>
              <a:rPr lang="en-US" dirty="0"/>
              <a:t> k = 1;</a:t>
            </a:r>
          </a:p>
          <a:p>
            <a:pPr algn="l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++k + k++ + + k; </a:t>
            </a:r>
            <a:endParaRPr lang="ru-RU" dirty="0"/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 }}</a:t>
            </a:r>
            <a:endParaRPr lang="ru-RU" dirty="0"/>
          </a:p>
          <a:p>
            <a:pPr algn="l"/>
            <a:r>
              <a:rPr lang="en-US" dirty="0"/>
              <a:t/>
            </a:r>
            <a:br>
              <a:rPr lang="en-US" dirty="0"/>
            </a:br>
            <a:r>
              <a:rPr lang="ru-RU" dirty="0"/>
              <a:t>Выберите один правильный ответ.</a:t>
            </a:r>
          </a:p>
          <a:p>
            <a:pPr algn="l"/>
            <a:r>
              <a:rPr lang="ru-RU" dirty="0"/>
              <a:t>а) Программа не откомпилируется. Компилятор выразит недовольство выражением ++к + к++ + + к.</a:t>
            </a:r>
          </a:p>
          <a:p>
            <a:pPr algn="l"/>
            <a:r>
              <a:rPr lang="ru-RU" dirty="0"/>
              <a:t>б) Программа откомпилируется и после выполнения напечатает значение 3.</a:t>
            </a:r>
          </a:p>
          <a:p>
            <a:pPr algn="l"/>
            <a:r>
              <a:rPr lang="ru-RU" dirty="0"/>
              <a:t>в) Программа откомпилируется и после выполнения напечатает значение 4.</a:t>
            </a:r>
          </a:p>
          <a:p>
            <a:pPr algn="l"/>
            <a:r>
              <a:rPr lang="ru-RU" dirty="0"/>
              <a:t>г) Программа откомпилируется и после выполнения напечатает значение 7.</a:t>
            </a:r>
          </a:p>
          <a:p>
            <a:pPr algn="l"/>
            <a:r>
              <a:rPr lang="ru-RU" dirty="0"/>
              <a:t>д) Программа откомпилируется и после выполнения напечатает значение 8.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7606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54000"/>
            <a:ext cx="12056533" cy="770467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14</a:t>
            </a:r>
            <a:r>
              <a:rPr lang="ru-RU" sz="2400" dirty="0"/>
              <a:t> Какая неверная строка первой вызовет ошибку на этапе компиляции следующей программы?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public class Test {</a:t>
            </a:r>
          </a:p>
          <a:p>
            <a:pPr algn="l"/>
            <a:r>
              <a:rPr lang="en-US" dirty="0"/>
              <a:t>public static void main(String[ 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algn="l"/>
            <a:r>
              <a:rPr lang="en-US" dirty="0"/>
              <a:t>char c;</a:t>
            </a:r>
          </a:p>
          <a:p>
            <a:pPr algn="l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algn="l"/>
            <a:r>
              <a:rPr lang="en-US" dirty="0"/>
              <a:t>c = 'a'; //	(1)</a:t>
            </a:r>
          </a:p>
          <a:p>
            <a:pPr algn="l"/>
            <a:r>
              <a:rPr lang="en-US" dirty="0" err="1"/>
              <a:t>i</a:t>
            </a:r>
            <a:r>
              <a:rPr lang="en-US" dirty="0"/>
              <a:t> = c;	 //	(2)</a:t>
            </a:r>
          </a:p>
          <a:p>
            <a:pPr algn="l"/>
            <a:r>
              <a:rPr lang="en-US" dirty="0" err="1"/>
              <a:t>i</a:t>
            </a:r>
            <a:r>
              <a:rPr lang="en-US" dirty="0"/>
              <a:t>++;	 //	(3)</a:t>
            </a:r>
          </a:p>
          <a:p>
            <a:pPr algn="l"/>
            <a:r>
              <a:rPr lang="en-US" dirty="0"/>
              <a:t>c = </a:t>
            </a:r>
            <a:r>
              <a:rPr lang="en-US" dirty="0" err="1"/>
              <a:t>i</a:t>
            </a:r>
            <a:r>
              <a:rPr lang="en-US" dirty="0"/>
              <a:t>;	 //	(4)</a:t>
            </a:r>
          </a:p>
          <a:p>
            <a:pPr algn="l"/>
            <a:r>
              <a:rPr lang="en-US" dirty="0" err="1"/>
              <a:t>c++</a:t>
            </a:r>
            <a:r>
              <a:rPr lang="en-US" dirty="0"/>
              <a:t>;	 //	(5)</a:t>
            </a:r>
          </a:p>
          <a:p>
            <a:pPr algn="l"/>
            <a:r>
              <a:rPr lang="en-US" dirty="0"/>
              <a:t>}}</a:t>
            </a:r>
            <a:br>
              <a:rPr lang="en-US" dirty="0"/>
            </a:br>
            <a:r>
              <a:rPr lang="ru-RU" dirty="0"/>
              <a:t>Выберите один правильный ответ.</a:t>
            </a:r>
          </a:p>
          <a:p>
            <a:pPr algn="l"/>
            <a:r>
              <a:rPr lang="ru-RU" dirty="0"/>
              <a:t>а) Строка (1)</a:t>
            </a:r>
          </a:p>
          <a:p>
            <a:pPr algn="l"/>
            <a:r>
              <a:rPr lang="ru-RU" dirty="0"/>
              <a:t>б) Строка (2)</a:t>
            </a:r>
          </a:p>
          <a:p>
            <a:pPr algn="l"/>
            <a:r>
              <a:rPr lang="ru-RU" dirty="0"/>
              <a:t>в) Строка (3)</a:t>
            </a:r>
          </a:p>
          <a:p>
            <a:pPr algn="l"/>
            <a:r>
              <a:rPr lang="ru-RU" dirty="0"/>
              <a:t>г) Строка (4)</a:t>
            </a:r>
          </a:p>
          <a:p>
            <a:pPr algn="l"/>
            <a:r>
              <a:rPr lang="ru-RU" dirty="0"/>
              <a:t>д) Строка (5)</a:t>
            </a:r>
          </a:p>
          <a:p>
            <a:pPr algn="l"/>
            <a:r>
              <a:rPr lang="ru-RU" dirty="0"/>
              <a:t>е) Все строки допустимы. Программа откомпилируется успешно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56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54000"/>
            <a:ext cx="12056533" cy="770467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15</a:t>
            </a:r>
            <a:r>
              <a:rPr lang="ru-RU" sz="2400" dirty="0"/>
              <a:t> Что произойдет в результате попытки откомпилировать и выполнить следующую программу?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public class Test  {</a:t>
            </a:r>
          </a:p>
          <a:p>
            <a:pPr algn="l"/>
            <a:r>
              <a:rPr lang="en-US" dirty="0"/>
              <a:t>public static void main (String[] </a:t>
            </a:r>
            <a:r>
              <a:rPr lang="en-US" dirty="0" err="1"/>
              <a:t>args</a:t>
            </a:r>
            <a:r>
              <a:rPr lang="en-US" dirty="0"/>
              <a:t>)  { </a:t>
            </a:r>
          </a:p>
          <a:p>
            <a:pPr algn="l"/>
            <a:r>
              <a:rPr lang="en-US" dirty="0"/>
              <a:t>    byte b = 128;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b;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}}</a:t>
            </a:r>
            <a:br>
              <a:rPr lang="en-US" dirty="0"/>
            </a:br>
            <a:r>
              <a:rPr lang="ru-RU" dirty="0">
                <a:solidFill>
                  <a:srgbClr val="FF0000"/>
                </a:solidFill>
              </a:rPr>
              <a:t>Выберите один правильный ответ</a:t>
            </a:r>
            <a:endParaRPr lang="ru-RU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а) Компилятор откажется компилировать программу, потому что не сможет при­своить </a:t>
            </a:r>
            <a:r>
              <a:rPr lang="en-US" dirty="0"/>
              <a:t>byte</a:t>
            </a:r>
            <a:r>
              <a:rPr lang="ru-RU" dirty="0"/>
              <a:t> в </a:t>
            </a:r>
            <a:r>
              <a:rPr lang="en-US" dirty="0" err="1"/>
              <a:t>int</a:t>
            </a:r>
            <a:r>
              <a:rPr lang="ru-RU" dirty="0"/>
              <a:t> без преобразования типа.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б) Программа откомпилируется и после выполнения напечатает 128.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в) Компилятор откажется компилировать программу, потому что 128 выходит за рамки допустимого диапазона для значений </a:t>
            </a:r>
            <a:r>
              <a:rPr lang="en-US" dirty="0"/>
              <a:t>byte</a:t>
            </a:r>
            <a:r>
              <a:rPr lang="ru-RU" dirty="0"/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г) Программа откомпилируется, но на этапе выполнения будет выброшено исключение </a:t>
            </a:r>
            <a:r>
              <a:rPr lang="en-US" dirty="0" err="1"/>
              <a:t>ClassCastException</a:t>
            </a:r>
            <a:r>
              <a:rPr lang="ru-RU" dirty="0"/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д) Программа откомпилируется и после выполнения напечатает 255.</a:t>
            </a:r>
          </a:p>
        </p:txBody>
      </p:sp>
    </p:spTree>
    <p:extLst>
      <p:ext uri="{BB962C8B-B14F-4D97-AF65-F5344CB8AC3E}">
        <p14:creationId xmlns:p14="http://schemas.microsoft.com/office/powerpoint/2010/main" val="2087503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54000"/>
            <a:ext cx="12056533" cy="770467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16</a:t>
            </a:r>
            <a:r>
              <a:rPr lang="ru-RU" sz="2400" dirty="0"/>
              <a:t> Что напечатает следующая программа во время выполнения?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public class Test {</a:t>
            </a:r>
          </a:p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[] array =  {4, 8, 16};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algn="l"/>
            <a:r>
              <a:rPr lang="en-US" dirty="0"/>
              <a:t>    array[++</a:t>
            </a:r>
            <a:r>
              <a:rPr lang="en-US" dirty="0" err="1"/>
              <a:t>i</a:t>
            </a:r>
            <a:r>
              <a:rPr lang="en-US" dirty="0"/>
              <a:t>] = --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(array[0] + array[1] + array[2]);</a:t>
            </a:r>
          </a:p>
          <a:p>
            <a:pPr algn="l"/>
            <a:r>
              <a:rPr lang="en-US" dirty="0"/>
              <a:t>}}</a:t>
            </a:r>
            <a:br>
              <a:rPr lang="en-US" dirty="0"/>
            </a:br>
            <a:r>
              <a:rPr lang="ru-RU" dirty="0">
                <a:solidFill>
                  <a:srgbClr val="FF0000"/>
                </a:solidFill>
              </a:rPr>
              <a:t>Выберите один правильный ответ </a:t>
            </a:r>
          </a:p>
          <a:p>
            <a:pPr algn="l"/>
            <a:r>
              <a:rPr lang="en-US" dirty="0"/>
              <a:t>a</a:t>
            </a:r>
            <a:r>
              <a:rPr lang="ru-RU" dirty="0"/>
              <a:t>) 13</a:t>
            </a:r>
          </a:p>
          <a:p>
            <a:pPr algn="l"/>
            <a:r>
              <a:rPr lang="ru-RU" dirty="0"/>
              <a:t>б) 14 </a:t>
            </a:r>
          </a:p>
          <a:p>
            <a:pPr algn="l"/>
            <a:r>
              <a:rPr lang="ru-RU" dirty="0"/>
              <a:t>в) 20 </a:t>
            </a:r>
          </a:p>
          <a:p>
            <a:pPr algn="l"/>
            <a:r>
              <a:rPr lang="ru-RU" dirty="0"/>
              <a:t>г) 21</a:t>
            </a:r>
            <a:r>
              <a:rPr lang="ru-RU" b="1" dirty="0"/>
              <a:t> </a:t>
            </a:r>
            <a:endParaRPr lang="ru-RU" dirty="0"/>
          </a:p>
          <a:p>
            <a:pPr algn="l"/>
            <a:r>
              <a:rPr lang="ru-RU" dirty="0"/>
              <a:t>д) 24</a:t>
            </a:r>
          </a:p>
        </p:txBody>
      </p:sp>
    </p:spTree>
    <p:extLst>
      <p:ext uri="{BB962C8B-B14F-4D97-AF65-F5344CB8AC3E}">
        <p14:creationId xmlns:p14="http://schemas.microsoft.com/office/powerpoint/2010/main" val="4046193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93134"/>
            <a:ext cx="12056533" cy="66039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17</a:t>
            </a:r>
            <a:r>
              <a:rPr lang="ru-RU" sz="2400" dirty="0"/>
              <a:t> Какие утверждения верны?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а) Оператор  получения  остатка %  может использоваться только с  целыми операндами</a:t>
            </a:r>
          </a:p>
          <a:p>
            <a:pPr algn="l"/>
            <a:r>
              <a:rPr lang="ru-RU" dirty="0"/>
              <a:t>б) Идентификаторы в </a:t>
            </a:r>
            <a:r>
              <a:rPr lang="en-US" dirty="0"/>
              <a:t>Java</a:t>
            </a:r>
            <a:r>
              <a:rPr lang="ru-RU" dirty="0"/>
              <a:t> чувствительны к регистру</a:t>
            </a:r>
          </a:p>
          <a:p>
            <a:pPr algn="l"/>
            <a:r>
              <a:rPr lang="ru-RU" dirty="0"/>
              <a:t>в) Арифметические операторы *, / и % имеют приоритет одного и того же уровня</a:t>
            </a:r>
          </a:p>
          <a:p>
            <a:pPr algn="l"/>
            <a:r>
              <a:rPr lang="ru-RU" dirty="0"/>
              <a:t>г) Значения типа </a:t>
            </a:r>
            <a:r>
              <a:rPr lang="en-US" dirty="0"/>
              <a:t>short</a:t>
            </a:r>
            <a:r>
              <a:rPr lang="ru-RU" dirty="0"/>
              <a:t> находятся в диапазоне от -128 до +127 включительно</a:t>
            </a:r>
          </a:p>
          <a:p>
            <a:pPr algn="l"/>
            <a:r>
              <a:rPr lang="ru-RU" dirty="0"/>
              <a:t>д) (+15) является разрешенным выражением</a:t>
            </a:r>
          </a:p>
        </p:txBody>
      </p:sp>
    </p:spTree>
    <p:extLst>
      <p:ext uri="{BB962C8B-B14F-4D97-AF65-F5344CB8AC3E}">
        <p14:creationId xmlns:p14="http://schemas.microsoft.com/office/powerpoint/2010/main" val="617460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-143933"/>
            <a:ext cx="12056533" cy="1176866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18</a:t>
            </a:r>
            <a:r>
              <a:rPr lang="ru-RU" sz="2400" dirty="0"/>
              <a:t> Какое из утверждений относительно того, какие строки будут выведены на консоль следующей программой, верно?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 numCol="2">
            <a:normAutofit/>
          </a:bodyPr>
          <a:lstStyle/>
          <a:p>
            <a:pPr algn="l"/>
            <a:r>
              <a:rPr lang="en-US" dirty="0"/>
              <a:t>public class Test  {</a:t>
            </a:r>
          </a:p>
          <a:p>
            <a:pPr algn="l"/>
            <a:r>
              <a:rPr lang="en-US" dirty="0"/>
              <a:t>static void </a:t>
            </a:r>
            <a:r>
              <a:rPr lang="en-US" dirty="0" err="1"/>
              <a:t>po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a, </a:t>
            </a:r>
            <a:r>
              <a:rPr lang="en-US" dirty="0" err="1"/>
              <a:t>boolean</a:t>
            </a:r>
            <a:r>
              <a:rPr lang="en-US" dirty="0"/>
              <a:t> b)  {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ru-RU" dirty="0"/>
              <a:t>с = </a:t>
            </a:r>
            <a:r>
              <a:rPr lang="en-US" dirty="0"/>
              <a:t>a != b;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d = a ^ b;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e = </a:t>
            </a:r>
            <a:r>
              <a:rPr lang="ru-RU" dirty="0"/>
              <a:t>с == </a:t>
            </a:r>
            <a:r>
              <a:rPr lang="en-US" dirty="0"/>
              <a:t>d;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(e); </a:t>
            </a:r>
          </a:p>
          <a:p>
            <a:pPr algn="l"/>
            <a:r>
              <a:rPr lang="en-US" dirty="0"/>
              <a:t>}</a:t>
            </a:r>
          </a:p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po</a:t>
            </a:r>
            <a:r>
              <a:rPr lang="en-US" dirty="0"/>
              <a:t>(false, false);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po</a:t>
            </a:r>
            <a:r>
              <a:rPr lang="en-US" dirty="0"/>
              <a:t>(true, false);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po</a:t>
            </a:r>
            <a:r>
              <a:rPr lang="en-US" dirty="0"/>
              <a:t>(false, true);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po</a:t>
            </a:r>
            <a:r>
              <a:rPr lang="en-US" dirty="0"/>
              <a:t>(true, true);</a:t>
            </a:r>
          </a:p>
          <a:p>
            <a:pPr algn="l"/>
            <a:r>
              <a:rPr lang="en-US" dirty="0"/>
              <a:t>}}</a:t>
            </a:r>
            <a:endParaRPr lang="ru-RU" dirty="0"/>
          </a:p>
          <a:p>
            <a:pPr algn="l"/>
            <a:r>
              <a:rPr lang="ru-RU" dirty="0">
                <a:solidFill>
                  <a:srgbClr val="FF0000"/>
                </a:solidFill>
              </a:rPr>
              <a:t>Выберите три правильных ответа</a:t>
            </a:r>
            <a:r>
              <a:rPr lang="ru-RU" dirty="0"/>
              <a:t>.</a:t>
            </a:r>
          </a:p>
          <a:p>
            <a:pPr algn="l"/>
            <a:r>
              <a:rPr lang="ru-RU" dirty="0"/>
              <a:t>а) Все строки напечатают одно и то же</a:t>
            </a:r>
          </a:p>
          <a:p>
            <a:pPr algn="l"/>
            <a:r>
              <a:rPr lang="ru-RU" dirty="0"/>
              <a:t>б) По крайней мере одна строка будет содержать </a:t>
            </a:r>
            <a:r>
              <a:rPr lang="en-US" dirty="0"/>
              <a:t>false</a:t>
            </a:r>
            <a:endParaRPr lang="ru-RU" dirty="0"/>
          </a:p>
          <a:p>
            <a:pPr algn="l"/>
            <a:r>
              <a:rPr lang="ru-RU" dirty="0"/>
              <a:t>в) По крайней мере одна строка будет содержать </a:t>
            </a:r>
            <a:r>
              <a:rPr lang="en-US" dirty="0"/>
              <a:t>true</a:t>
            </a:r>
            <a:endParaRPr lang="ru-RU" dirty="0"/>
          </a:p>
          <a:p>
            <a:pPr algn="l"/>
            <a:r>
              <a:rPr lang="ru-RU" dirty="0"/>
              <a:t>г) Первая строка будет содержать </a:t>
            </a:r>
            <a:r>
              <a:rPr lang="en-US" dirty="0"/>
              <a:t>false</a:t>
            </a:r>
            <a:endParaRPr lang="ru-RU" dirty="0"/>
          </a:p>
          <a:p>
            <a:pPr algn="l"/>
            <a:r>
              <a:rPr lang="ru-RU" dirty="0"/>
              <a:t>д) Первая строка будет содержать </a:t>
            </a:r>
            <a:r>
              <a:rPr lang="en-US" dirty="0"/>
              <a:t>true</a:t>
            </a:r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032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43933"/>
            <a:ext cx="12056533" cy="728134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19</a:t>
            </a:r>
            <a:r>
              <a:rPr lang="ru-RU" sz="2400" dirty="0"/>
              <a:t> Что произойдет во время выполнения следующей программы?</a:t>
            </a:r>
            <a:br>
              <a:rPr lang="ru-RU" sz="2400" dirty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53533"/>
            <a:ext cx="12056533" cy="6028267"/>
          </a:xfrm>
        </p:spPr>
        <p:txBody>
          <a:bodyPr numCol="1">
            <a:normAutofit/>
          </a:bodyPr>
          <a:lstStyle/>
          <a:p>
            <a:pPr algn="l"/>
            <a:r>
              <a:rPr lang="en-US" dirty="0"/>
              <a:t>public class Test {</a:t>
            </a:r>
          </a:p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 </a:t>
            </a:r>
          </a:p>
          <a:p>
            <a:pPr algn="l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pPr algn="l"/>
            <a:r>
              <a:rPr lang="en-US" dirty="0" err="1"/>
              <a:t>int</a:t>
            </a:r>
            <a:r>
              <a:rPr lang="en-US" dirty="0"/>
              <a:t>[] a = {3, 6}; </a:t>
            </a:r>
          </a:p>
          <a:p>
            <a:pPr algn="l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i</a:t>
            </a:r>
            <a:r>
              <a:rPr lang="en-US" dirty="0"/>
              <a:t> = 9; </a:t>
            </a:r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  " + a[0] + "  " + a[1]);</a:t>
            </a:r>
          </a:p>
          <a:p>
            <a:pPr algn="l"/>
            <a:r>
              <a:rPr lang="en-US" dirty="0"/>
              <a:t>}}</a:t>
            </a:r>
            <a:endParaRPr lang="ru-RU" dirty="0"/>
          </a:p>
          <a:p>
            <a:pPr algn="l"/>
            <a:r>
              <a:rPr lang="ru-RU" dirty="0">
                <a:solidFill>
                  <a:srgbClr val="FF0000"/>
                </a:solidFill>
              </a:rPr>
              <a:t>Выберите один правильный ответ</a:t>
            </a:r>
          </a:p>
          <a:p>
            <a:pPr algn="l"/>
            <a:r>
              <a:rPr lang="ru-RU" dirty="0"/>
              <a:t>а) Будет выброшено исключение </a:t>
            </a:r>
            <a:r>
              <a:rPr lang="en-US" dirty="0" err="1"/>
              <a:t>ArraylndexOutOfBoundsException</a:t>
            </a:r>
            <a:endParaRPr lang="ru-RU" dirty="0"/>
          </a:p>
          <a:p>
            <a:pPr algn="l"/>
            <a:r>
              <a:rPr lang="ru-RU" dirty="0"/>
              <a:t>б) Будет выведено "9 9 6"</a:t>
            </a:r>
          </a:p>
          <a:p>
            <a:pPr algn="l"/>
            <a:r>
              <a:rPr lang="ru-RU" dirty="0"/>
              <a:t>в) Будет выведено "9 0 6"</a:t>
            </a:r>
          </a:p>
          <a:p>
            <a:pPr algn="l"/>
            <a:r>
              <a:rPr lang="ru-RU" dirty="0"/>
              <a:t>г) Будет выведено "9 3 6"</a:t>
            </a:r>
          </a:p>
          <a:p>
            <a:pPr algn="l"/>
            <a:r>
              <a:rPr lang="ru-RU" dirty="0"/>
              <a:t>д) Будет выведено "9 3 9"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6898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43933"/>
            <a:ext cx="12056533" cy="728134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20</a:t>
            </a:r>
            <a:r>
              <a:rPr lang="ru-RU" sz="2400" dirty="0"/>
              <a:t> Какое из утверждений верно относительно результата работы следующей программы?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872067"/>
            <a:ext cx="12056533" cy="5909733"/>
          </a:xfrm>
        </p:spPr>
        <p:txBody>
          <a:bodyPr numCol="2">
            <a:normAutofit/>
          </a:bodyPr>
          <a:lstStyle/>
          <a:p>
            <a:pPr algn="l"/>
            <a:r>
              <a:rPr lang="en-US" dirty="0"/>
              <a:t>public class Test  {</a:t>
            </a:r>
          </a:p>
          <a:p>
            <a:pPr algn="l"/>
            <a:r>
              <a:rPr lang="en-US" dirty="0"/>
              <a:t>public static void main(String[ ] </a:t>
            </a:r>
            <a:r>
              <a:rPr lang="en-US" dirty="0" err="1"/>
              <a:t>args</a:t>
            </a:r>
            <a:r>
              <a:rPr lang="en-US" dirty="0"/>
              <a:t>)  {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j = 0;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t = true; 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 r;</a:t>
            </a:r>
          </a:p>
          <a:p>
            <a:pPr algn="l"/>
            <a:r>
              <a:rPr lang="en-US" dirty="0"/>
              <a:t>r=(t&amp;0&lt;(</a:t>
            </a:r>
            <a:r>
              <a:rPr lang="en-US" dirty="0" err="1"/>
              <a:t>i</a:t>
            </a:r>
            <a:r>
              <a:rPr lang="en-US" dirty="0"/>
              <a:t>+=1)); </a:t>
            </a:r>
          </a:p>
          <a:p>
            <a:pPr algn="l"/>
            <a:r>
              <a:rPr lang="en-US" dirty="0"/>
              <a:t>r=(t&amp;&amp;0&lt;( </a:t>
            </a:r>
            <a:r>
              <a:rPr lang="en-US" dirty="0" err="1"/>
              <a:t>i</a:t>
            </a:r>
            <a:r>
              <a:rPr lang="en-US" dirty="0"/>
              <a:t> += 2 )); </a:t>
            </a:r>
          </a:p>
          <a:p>
            <a:pPr algn="l"/>
            <a:r>
              <a:rPr lang="en-US" dirty="0"/>
              <a:t>r=( t |  0 &lt; ( j+=1 ));  </a:t>
            </a:r>
          </a:p>
          <a:p>
            <a:pPr algn="l"/>
            <a:r>
              <a:rPr lang="en-US" dirty="0"/>
              <a:t>r=(t||0 &lt;( j += 2)); </a:t>
            </a:r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  " + j);</a:t>
            </a:r>
          </a:p>
          <a:p>
            <a:pPr algn="l"/>
            <a:r>
              <a:rPr lang="en-US" dirty="0"/>
              <a:t>}} </a:t>
            </a:r>
            <a:endParaRPr lang="ru-RU" dirty="0"/>
          </a:p>
          <a:p>
            <a:pPr algn="l"/>
            <a:endParaRPr lang="ru-RU" dirty="0">
              <a:solidFill>
                <a:srgbClr val="FF0000"/>
              </a:solidFill>
            </a:endParaRPr>
          </a:p>
          <a:p>
            <a:pPr algn="l"/>
            <a:r>
              <a:rPr lang="ru-RU" dirty="0"/>
              <a:t>Выберите два правильных ответа.</a:t>
            </a:r>
          </a:p>
          <a:p>
            <a:pPr algn="l"/>
            <a:r>
              <a:rPr lang="ru-RU" dirty="0"/>
              <a:t>а) Первая напечатанная цифра будет 1</a:t>
            </a:r>
          </a:p>
          <a:p>
            <a:pPr algn="l"/>
            <a:r>
              <a:rPr lang="ru-RU" dirty="0"/>
              <a:t>б) Первая напечатанная цифра будет 2</a:t>
            </a:r>
          </a:p>
          <a:p>
            <a:pPr algn="l"/>
            <a:r>
              <a:rPr lang="ru-RU" dirty="0"/>
              <a:t>в) Первая напечатанная цифра будет 3</a:t>
            </a:r>
          </a:p>
          <a:p>
            <a:pPr algn="l"/>
            <a:r>
              <a:rPr lang="ru-RU" dirty="0"/>
              <a:t>г) Вторая напечатанная цифра будет 1</a:t>
            </a:r>
          </a:p>
          <a:p>
            <a:pPr algn="l"/>
            <a:r>
              <a:rPr lang="ru-RU" dirty="0"/>
              <a:t>д) Вторая напечатанная цифра будет 2</a:t>
            </a:r>
          </a:p>
          <a:p>
            <a:pPr algn="l"/>
            <a:r>
              <a:rPr lang="ru-RU" dirty="0"/>
              <a:t>е) Вторая напечатанная цифра будет 3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213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43933"/>
            <a:ext cx="12056533" cy="423334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21</a:t>
            </a:r>
            <a:r>
              <a:rPr lang="ru-RU" sz="2400" dirty="0"/>
              <a:t> Что будет отображено на экране во время выполнения следующей программы?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567267"/>
            <a:ext cx="12056533" cy="6214533"/>
          </a:xfrm>
        </p:spPr>
        <p:txBody>
          <a:bodyPr numCol="1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public class Test {</a:t>
            </a:r>
          </a:p>
          <a:p>
            <a:pPr algn="l">
              <a:spcBef>
                <a:spcPts val="0"/>
              </a:spcBef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 {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addTwo</a:t>
            </a:r>
            <a:r>
              <a:rPr lang="en-US" dirty="0"/>
              <a:t>( </a:t>
            </a:r>
            <a:r>
              <a:rPr lang="en-US" dirty="0" err="1"/>
              <a:t>i</a:t>
            </a:r>
            <a:r>
              <a:rPr lang="en-US" dirty="0"/>
              <a:t>++ );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static void </a:t>
            </a:r>
            <a:r>
              <a:rPr lang="en-US" dirty="0" err="1"/>
              <a:t>addTwo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</a:t>
            </a:r>
            <a:r>
              <a:rPr lang="en-US" dirty="0"/>
              <a:t>=+2;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}}</a:t>
            </a:r>
            <a:endParaRPr lang="ru-RU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/>
            <a:r>
              <a:rPr lang="ru-RU" sz="2000" dirty="0"/>
              <a:t>Выберите один правильный ответ.</a:t>
            </a:r>
          </a:p>
          <a:p>
            <a:pPr algn="l"/>
            <a:r>
              <a:rPr lang="ru-RU" sz="2000" dirty="0"/>
              <a:t>а) 0</a:t>
            </a:r>
          </a:p>
          <a:p>
            <a:pPr algn="l"/>
            <a:r>
              <a:rPr lang="ru-RU" sz="2000" dirty="0"/>
              <a:t>б) 1</a:t>
            </a:r>
          </a:p>
          <a:p>
            <a:pPr algn="l"/>
            <a:r>
              <a:rPr lang="ru-RU" sz="2000" dirty="0"/>
              <a:t>в) 2</a:t>
            </a:r>
          </a:p>
          <a:p>
            <a:pPr algn="l"/>
            <a:r>
              <a:rPr lang="ru-RU" sz="2000" dirty="0"/>
              <a:t>г) 3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3112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37067"/>
            <a:ext cx="12056533" cy="482600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22</a:t>
            </a:r>
            <a:r>
              <a:rPr lang="ru-RU" sz="2400" dirty="0"/>
              <a:t> Что будет в результате попытки откомпилировать и выполнить следующий класс?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719667"/>
            <a:ext cx="12056533" cy="6062133"/>
          </a:xfrm>
        </p:spPr>
        <p:txBody>
          <a:bodyPr numCol="2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2200" dirty="0"/>
              <a:t>public class Test {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public static void main(String[] </a:t>
            </a:r>
            <a:r>
              <a:rPr lang="en-US" sz="2200" dirty="0" err="1"/>
              <a:t>args</a:t>
            </a:r>
            <a:r>
              <a:rPr lang="en-US" sz="2200" dirty="0"/>
              <a:t>) { </a:t>
            </a:r>
          </a:p>
          <a:p>
            <a:pPr algn="l">
              <a:spcBef>
                <a:spcPts val="0"/>
              </a:spcBef>
            </a:pPr>
            <a:r>
              <a:rPr lang="en-US" sz="2200" dirty="0" err="1"/>
              <a:t>int</a:t>
            </a:r>
            <a:r>
              <a:rPr lang="en-US" sz="2200" dirty="0"/>
              <a:t> a = 0;</a:t>
            </a:r>
          </a:p>
          <a:p>
            <a:pPr algn="l">
              <a:spcBef>
                <a:spcPts val="0"/>
              </a:spcBef>
            </a:pPr>
            <a:r>
              <a:rPr lang="en-US" sz="2200" dirty="0" err="1"/>
              <a:t>int</a:t>
            </a:r>
            <a:r>
              <a:rPr lang="en-US" sz="2200" dirty="0"/>
              <a:t> b = 0;</a:t>
            </a:r>
          </a:p>
          <a:p>
            <a:pPr algn="l">
              <a:spcBef>
                <a:spcPts val="0"/>
              </a:spcBef>
            </a:pPr>
            <a:r>
              <a:rPr lang="en-US" sz="2200" dirty="0" err="1"/>
              <a:t>int</a:t>
            </a:r>
            <a:r>
              <a:rPr lang="en-US" sz="2200" dirty="0"/>
              <a:t>[] </a:t>
            </a:r>
            <a:r>
              <a:rPr lang="en-US" sz="2200" dirty="0" err="1"/>
              <a:t>bArr</a:t>
            </a:r>
            <a:r>
              <a:rPr lang="en-US" sz="2200" dirty="0"/>
              <a:t> = new </a:t>
            </a:r>
            <a:r>
              <a:rPr lang="en-US" sz="2200" dirty="0" err="1"/>
              <a:t>int</a:t>
            </a:r>
            <a:r>
              <a:rPr lang="en-US" sz="2200" dirty="0"/>
              <a:t>[1]; </a:t>
            </a:r>
          </a:p>
          <a:p>
            <a:pPr algn="l">
              <a:spcBef>
                <a:spcPts val="0"/>
              </a:spcBef>
            </a:pPr>
            <a:r>
              <a:rPr lang="en-US" sz="2200" dirty="0" err="1"/>
              <a:t>bArr</a:t>
            </a:r>
            <a:r>
              <a:rPr lang="en-US" sz="2200" dirty="0"/>
              <a:t>[0] = b;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inc1(a);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inc2(</a:t>
            </a:r>
            <a:r>
              <a:rPr lang="en-US" sz="2200" dirty="0" err="1"/>
              <a:t>bArr</a:t>
            </a:r>
            <a:r>
              <a:rPr lang="en-US" sz="2200" dirty="0"/>
              <a:t>);</a:t>
            </a:r>
          </a:p>
          <a:p>
            <a:pPr algn="l">
              <a:spcBef>
                <a:spcPts val="0"/>
              </a:spcBef>
            </a:pPr>
            <a:r>
              <a:rPr lang="en-US" sz="2200" dirty="0" err="1"/>
              <a:t>System.out.println</a:t>
            </a:r>
            <a:r>
              <a:rPr lang="en-US" sz="2200" dirty="0"/>
              <a:t>("a=" + a + " b=" + b + " b</a:t>
            </a:r>
            <a:r>
              <a:rPr lang="ru-RU" sz="2200" dirty="0"/>
              <a:t>А</a:t>
            </a:r>
            <a:r>
              <a:rPr lang="en-US" sz="2200" dirty="0" err="1"/>
              <a:t>rr</a:t>
            </a:r>
            <a:r>
              <a:rPr lang="en-US" sz="2200" dirty="0"/>
              <a:t>[0]=" + </a:t>
            </a:r>
            <a:r>
              <a:rPr lang="en-US" sz="2200" dirty="0" err="1"/>
              <a:t>bArr</a:t>
            </a:r>
            <a:r>
              <a:rPr lang="en-US" sz="2200" dirty="0"/>
              <a:t>[0]);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public static void inc1(</a:t>
            </a:r>
            <a:r>
              <a:rPr lang="en-US" sz="2200" dirty="0" err="1"/>
              <a:t>int</a:t>
            </a:r>
            <a:r>
              <a:rPr lang="en-US" sz="2200" dirty="0"/>
              <a:t> x)  {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 x++;   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public static void inc2(</a:t>
            </a:r>
            <a:r>
              <a:rPr lang="en-US" sz="2200" dirty="0" err="1"/>
              <a:t>int</a:t>
            </a:r>
            <a:r>
              <a:rPr lang="en-US" sz="2200" dirty="0"/>
              <a:t>[] x)  { 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x[0]++;   </a:t>
            </a:r>
          </a:p>
          <a:p>
            <a:pPr algn="l">
              <a:spcBef>
                <a:spcPts val="0"/>
              </a:spcBef>
            </a:pPr>
            <a:r>
              <a:rPr lang="en-US" sz="2200" dirty="0"/>
              <a:t>} }</a:t>
            </a: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/>
            <a:r>
              <a:rPr lang="ru-RU" sz="2000" dirty="0">
                <a:solidFill>
                  <a:srgbClr val="FF0000"/>
                </a:solidFill>
              </a:rPr>
              <a:t>Выберите один правильный ответ</a:t>
            </a:r>
          </a:p>
          <a:p>
            <a:pPr algn="l"/>
            <a:r>
              <a:rPr lang="ru-RU" sz="2000" dirty="0"/>
              <a:t>а) На этапе компиляции возникнет ошибка, так как х[0]++; является недопустимым выражением</a:t>
            </a:r>
          </a:p>
          <a:p>
            <a:pPr algn="l"/>
            <a:r>
              <a:rPr lang="ru-RU" sz="2000" dirty="0"/>
              <a:t>б) Код откомпилируется и после выполнения будет отображено "а=1 </a:t>
            </a:r>
            <a:r>
              <a:rPr lang="en-US" sz="2000" dirty="0"/>
              <a:t>b</a:t>
            </a:r>
            <a:r>
              <a:rPr lang="ru-RU" sz="2000" dirty="0"/>
              <a:t>=1 </a:t>
            </a:r>
            <a:r>
              <a:rPr lang="en-US" sz="2000" dirty="0"/>
              <a:t>b</a:t>
            </a:r>
            <a:r>
              <a:rPr lang="ru-RU" sz="2000" dirty="0"/>
              <a:t>А</a:t>
            </a:r>
            <a:r>
              <a:rPr lang="en-US" sz="2000" dirty="0" err="1"/>
              <a:t>rr</a:t>
            </a:r>
            <a:r>
              <a:rPr lang="ru-RU" sz="2000" dirty="0"/>
              <a:t>[0]=1"</a:t>
            </a:r>
          </a:p>
          <a:p>
            <a:pPr algn="l"/>
            <a:r>
              <a:rPr lang="ru-RU" sz="2000" dirty="0"/>
              <a:t>в) Код откомпилируется и после выполнения будет отображено "а=0 </a:t>
            </a:r>
            <a:r>
              <a:rPr lang="en-US" sz="2000" dirty="0"/>
              <a:t>b</a:t>
            </a:r>
            <a:r>
              <a:rPr lang="ru-RU" sz="2000" dirty="0"/>
              <a:t>=1 </a:t>
            </a:r>
            <a:r>
              <a:rPr lang="en-US" sz="2000" dirty="0"/>
              <a:t>b</a:t>
            </a:r>
            <a:r>
              <a:rPr lang="ru-RU" sz="2000" dirty="0"/>
              <a:t>А</a:t>
            </a:r>
            <a:r>
              <a:rPr lang="en-US" sz="2000" dirty="0" err="1"/>
              <a:t>rr</a:t>
            </a:r>
            <a:r>
              <a:rPr lang="ru-RU" sz="2000" dirty="0"/>
              <a:t>[0]=1"</a:t>
            </a:r>
          </a:p>
          <a:p>
            <a:pPr algn="l"/>
            <a:r>
              <a:rPr lang="ru-RU" sz="2000" dirty="0"/>
              <a:t>г) Код откомпилируется и после выполнения будет отображено "а=0 </a:t>
            </a:r>
            <a:r>
              <a:rPr lang="en-US" sz="2000" dirty="0"/>
              <a:t>b</a:t>
            </a:r>
            <a:r>
              <a:rPr lang="ru-RU" sz="2000" dirty="0"/>
              <a:t>=0</a:t>
            </a:r>
            <a:r>
              <a:rPr lang="en-US" sz="2000" dirty="0"/>
              <a:t> b</a:t>
            </a:r>
            <a:r>
              <a:rPr lang="ru-RU" sz="2000" dirty="0"/>
              <a:t>А</a:t>
            </a:r>
            <a:r>
              <a:rPr lang="en-US" sz="2000" dirty="0" err="1"/>
              <a:t>rr</a:t>
            </a:r>
            <a:r>
              <a:rPr lang="ru-RU" sz="2000" dirty="0"/>
              <a:t>[0]=1"</a:t>
            </a:r>
          </a:p>
          <a:p>
            <a:pPr algn="l"/>
            <a:r>
              <a:rPr lang="ru-RU" sz="2000" dirty="0"/>
              <a:t>д) Код откомпилируется и после выполнения будет отображено "а=0 </a:t>
            </a:r>
            <a:r>
              <a:rPr lang="en-US" sz="2000" dirty="0"/>
              <a:t>b</a:t>
            </a:r>
            <a:r>
              <a:rPr lang="ru-RU" sz="2000" dirty="0"/>
              <a:t>=0 </a:t>
            </a:r>
            <a:r>
              <a:rPr lang="en-US" sz="2000" dirty="0"/>
              <a:t>b</a:t>
            </a:r>
            <a:r>
              <a:rPr lang="ru-RU" sz="2000" dirty="0"/>
              <a:t>А</a:t>
            </a:r>
            <a:r>
              <a:rPr lang="en-US" sz="2000" dirty="0" err="1"/>
              <a:t>rr</a:t>
            </a:r>
            <a:r>
              <a:rPr lang="ru-RU" sz="2000" dirty="0"/>
              <a:t>[0]=0"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80962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37066"/>
            <a:ext cx="12056533" cy="8297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23</a:t>
            </a:r>
            <a:r>
              <a:rPr lang="ru-RU" sz="2400" dirty="0"/>
              <a:t> Каков будет результат после выполнения следующей команды?</a:t>
            </a:r>
            <a:br>
              <a:rPr lang="ru-RU" sz="2400" dirty="0"/>
            </a:br>
            <a:r>
              <a:rPr lang="en-US" sz="2400" dirty="0"/>
              <a:t>Java </a:t>
            </a:r>
            <a:r>
              <a:rPr lang="en-US" sz="2400" dirty="0" err="1"/>
              <a:t>Args</a:t>
            </a:r>
            <a:r>
              <a:rPr lang="en-US" sz="2400" dirty="0"/>
              <a:t> In politics stupidity is not a handicap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1185333"/>
            <a:ext cx="12056533" cy="5596467"/>
          </a:xfrm>
        </p:spPr>
        <p:txBody>
          <a:bodyPr numCol="1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public class </a:t>
            </a:r>
            <a:r>
              <a:rPr lang="en-US" dirty="0" err="1"/>
              <a:t>Args</a:t>
            </a:r>
            <a:r>
              <a:rPr lang="en-US" dirty="0"/>
              <a:t> {</a:t>
            </a:r>
          </a:p>
          <a:p>
            <a:pPr algn="l">
              <a:spcBef>
                <a:spcPts val="0"/>
              </a:spcBef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[0] + " " + </a:t>
            </a:r>
            <a:r>
              <a:rPr lang="en-US" dirty="0" err="1"/>
              <a:t>args</a:t>
            </a:r>
            <a:r>
              <a:rPr lang="en-US" dirty="0"/>
              <a:t>[args.length-1]);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}}</a:t>
            </a:r>
            <a:endParaRPr lang="ru-RU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/>
            <a:r>
              <a:rPr lang="ru-RU" sz="2200" dirty="0"/>
              <a:t>Выберите один правильный ответ</a:t>
            </a:r>
          </a:p>
          <a:p>
            <a:pPr algn="l"/>
            <a:r>
              <a:rPr lang="ru-RU" sz="2200" dirty="0"/>
              <a:t>а) Будет выброшено исключение </a:t>
            </a:r>
            <a:r>
              <a:rPr lang="en-US" sz="2200" dirty="0" err="1"/>
              <a:t>ArraylndexOutOfBoundsException</a:t>
            </a:r>
            <a:endParaRPr lang="ru-RU" sz="2200" dirty="0"/>
          </a:p>
          <a:p>
            <a:pPr algn="l"/>
            <a:r>
              <a:rPr lang="ru-RU" sz="2200" dirty="0"/>
              <a:t>б) Будет отображено на экране "</a:t>
            </a:r>
            <a:r>
              <a:rPr lang="en-US" sz="2200" dirty="0"/>
              <a:t>Java handicap</a:t>
            </a:r>
            <a:r>
              <a:rPr lang="ru-RU" sz="2200" dirty="0"/>
              <a:t>"</a:t>
            </a:r>
          </a:p>
          <a:p>
            <a:pPr algn="l"/>
            <a:r>
              <a:rPr lang="ru-RU" sz="2200" dirty="0"/>
              <a:t>в) Будет отображено на экране "</a:t>
            </a:r>
            <a:r>
              <a:rPr lang="en-US" sz="2200" dirty="0" err="1"/>
              <a:t>Args</a:t>
            </a:r>
            <a:r>
              <a:rPr lang="en-US" sz="2200" dirty="0"/>
              <a:t> handicap</a:t>
            </a:r>
            <a:r>
              <a:rPr lang="ru-RU" sz="2200" dirty="0"/>
              <a:t>"</a:t>
            </a:r>
          </a:p>
          <a:p>
            <a:pPr algn="l"/>
            <a:r>
              <a:rPr lang="ru-RU" sz="2200" dirty="0"/>
              <a:t>г) Будет отображено на экране "</a:t>
            </a:r>
            <a:r>
              <a:rPr lang="en-US" sz="2200" dirty="0"/>
              <a:t>In handicap</a:t>
            </a:r>
            <a:r>
              <a:rPr lang="ru-RU" sz="2200" dirty="0"/>
              <a:t>"</a:t>
            </a:r>
          </a:p>
          <a:p>
            <a:pPr algn="l"/>
            <a:r>
              <a:rPr lang="ru-RU" sz="2200" dirty="0"/>
              <a:t>д) Будет отображено на экране "</a:t>
            </a:r>
            <a:r>
              <a:rPr lang="en-US" sz="2200" dirty="0" err="1"/>
              <a:t>Args</a:t>
            </a:r>
            <a:r>
              <a:rPr lang="en-US" sz="2200" dirty="0"/>
              <a:t> a</a:t>
            </a:r>
            <a:r>
              <a:rPr lang="ru-RU" sz="2200" dirty="0"/>
              <a:t>"</a:t>
            </a:r>
          </a:p>
          <a:p>
            <a:pPr algn="l"/>
            <a:r>
              <a:rPr lang="ru-RU" sz="2200" dirty="0"/>
              <a:t>е) Будет отображено на экране "</a:t>
            </a:r>
            <a:r>
              <a:rPr lang="en-US" sz="2200" dirty="0"/>
              <a:t>In a</a:t>
            </a:r>
            <a:r>
              <a:rPr lang="ru-RU" sz="2200" dirty="0"/>
              <a:t>"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233619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37067"/>
            <a:ext cx="12056533" cy="575734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24</a:t>
            </a:r>
            <a:r>
              <a:rPr lang="ru-RU" sz="2400" dirty="0"/>
              <a:t> Какое выражение должно вызвать ошибку компиляции, если его добавить в про­грамму ниже в указанное положение?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922867"/>
            <a:ext cx="12056533" cy="5858933"/>
          </a:xfrm>
        </p:spPr>
        <p:txBody>
          <a:bodyPr numCol="2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public class Test {</a:t>
            </a:r>
          </a:p>
          <a:p>
            <a:pPr algn="l">
              <a:spcBef>
                <a:spcPts val="0"/>
              </a:spcBef>
            </a:pP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int</a:t>
            </a:r>
            <a:r>
              <a:rPr lang="en-US" dirty="0"/>
              <a:t> a = 0;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final </a:t>
            </a:r>
            <a:r>
              <a:rPr lang="en-US" dirty="0" err="1"/>
              <a:t>int</a:t>
            </a:r>
            <a:r>
              <a:rPr lang="en-US" dirty="0"/>
              <a:t> b = 1; 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int</a:t>
            </a:r>
            <a:r>
              <a:rPr lang="en-US" dirty="0"/>
              <a:t>[]c={2};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final </a:t>
            </a:r>
            <a:r>
              <a:rPr lang="en-US" dirty="0" err="1"/>
              <a:t>int</a:t>
            </a:r>
            <a:r>
              <a:rPr lang="en-US" dirty="0"/>
              <a:t>[] d = { 3 };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 </a:t>
            </a:r>
            <a:r>
              <a:rPr lang="en-US" dirty="0" err="1"/>
              <a:t>userArgs</a:t>
            </a:r>
            <a:r>
              <a:rPr lang="en-US" dirty="0"/>
              <a:t>(</a:t>
            </a:r>
            <a:r>
              <a:rPr lang="en-US" dirty="0" err="1"/>
              <a:t>a,b,c,d</a:t>
            </a:r>
            <a:r>
              <a:rPr lang="en-US" dirty="0"/>
              <a:t>);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dirty="0"/>
              <a:t>static void </a:t>
            </a:r>
            <a:r>
              <a:rPr lang="en-US" dirty="0" err="1"/>
              <a:t>userArgs</a:t>
            </a:r>
            <a:r>
              <a:rPr lang="en-US" dirty="0"/>
              <a:t>(final 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b, final </a:t>
            </a:r>
            <a:r>
              <a:rPr lang="en-US" dirty="0" err="1"/>
              <a:t>int</a:t>
            </a:r>
            <a:r>
              <a:rPr lang="en-US" dirty="0"/>
              <a:t>[] c, </a:t>
            </a:r>
            <a:r>
              <a:rPr lang="en-US" dirty="0" err="1"/>
              <a:t>int</a:t>
            </a:r>
            <a:r>
              <a:rPr lang="en-US" dirty="0"/>
              <a:t>[] d)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{</a:t>
            </a:r>
          </a:p>
          <a:p>
            <a:pPr algn="l">
              <a:spcBef>
                <a:spcPts val="0"/>
              </a:spcBef>
            </a:pPr>
            <a:r>
              <a:rPr lang="en-US" dirty="0"/>
              <a:t>// </a:t>
            </a:r>
            <a:r>
              <a:rPr lang="ru-RU" dirty="0"/>
              <a:t>Вставьте выражение здесь.</a:t>
            </a:r>
          </a:p>
          <a:p>
            <a:pPr algn="l">
              <a:spcBef>
                <a:spcPts val="0"/>
              </a:spcBef>
            </a:pPr>
            <a:r>
              <a:rPr lang="ru-RU" dirty="0"/>
              <a:t>}}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/>
            <a:r>
              <a:rPr lang="ru-RU" sz="2200" dirty="0"/>
              <a:t>Выберите два правильных ответа.</a:t>
            </a:r>
          </a:p>
          <a:p>
            <a:pPr indent="449263" algn="l"/>
            <a:r>
              <a:rPr lang="ru-RU" sz="2200" dirty="0"/>
              <a:t>а) а++</a:t>
            </a:r>
          </a:p>
          <a:p>
            <a:pPr indent="449263" algn="l"/>
            <a:r>
              <a:rPr lang="ru-RU" sz="2200" dirty="0"/>
              <a:t>б) </a:t>
            </a:r>
            <a:r>
              <a:rPr lang="en-US" sz="2200" dirty="0"/>
              <a:t>b</a:t>
            </a:r>
            <a:r>
              <a:rPr lang="ru-RU" sz="2200" dirty="0"/>
              <a:t>++</a:t>
            </a:r>
          </a:p>
          <a:p>
            <a:pPr indent="449263" algn="l"/>
            <a:r>
              <a:rPr lang="ru-RU" sz="2200" dirty="0"/>
              <a:t>в) </a:t>
            </a:r>
            <a:r>
              <a:rPr lang="en-US" sz="2200" dirty="0"/>
              <a:t>b</a:t>
            </a:r>
            <a:r>
              <a:rPr lang="ru-RU" sz="2200" dirty="0"/>
              <a:t> = а</a:t>
            </a:r>
          </a:p>
          <a:p>
            <a:pPr indent="449263" algn="l"/>
            <a:r>
              <a:rPr lang="ru-RU" sz="2200" dirty="0"/>
              <a:t>г) с[0]++</a:t>
            </a:r>
          </a:p>
          <a:p>
            <a:pPr indent="449263" algn="l"/>
            <a:r>
              <a:rPr lang="ru-RU" sz="2200" dirty="0"/>
              <a:t>д) </a:t>
            </a:r>
            <a:r>
              <a:rPr lang="en-US" sz="2200" dirty="0"/>
              <a:t>d</a:t>
            </a:r>
            <a:r>
              <a:rPr lang="ru-RU" sz="2200" dirty="0"/>
              <a:t>[0]++</a:t>
            </a:r>
          </a:p>
          <a:p>
            <a:pPr indent="449263" algn="l"/>
            <a:r>
              <a:rPr lang="ru-RU" sz="2200" dirty="0"/>
              <a:t>е) с = </a:t>
            </a:r>
            <a:r>
              <a:rPr lang="en-US" sz="2200" dirty="0"/>
              <a:t>d</a:t>
            </a: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74344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237067"/>
            <a:ext cx="12056533" cy="575734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25</a:t>
            </a:r>
            <a:r>
              <a:rPr lang="ru-RU" sz="2400" dirty="0"/>
              <a:t> Что получится, если попытаться откомпилировать и выполнить следующую про­грамму?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922867"/>
            <a:ext cx="12056533" cy="5858933"/>
          </a:xfrm>
        </p:spPr>
        <p:txBody>
          <a:bodyPr numCol="1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class Test  {</a:t>
            </a:r>
          </a:p>
          <a:p>
            <a:pPr algn="l">
              <a:spcBef>
                <a:spcPts val="0"/>
              </a:spcBef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 {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int</a:t>
            </a:r>
            <a:r>
              <a:rPr lang="en-US" dirty="0"/>
              <a:t> size = 20;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 [size];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pPr algn="l">
              <a:spcBef>
                <a:spcPts val="0"/>
              </a:spcBef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dirty="0"/>
              <a:t>}}</a:t>
            </a: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Выберите один правильный ответ.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а) На этапе компиляции произойдет ошибка, потому что выражение типа массива </a:t>
            </a:r>
            <a:r>
              <a:rPr lang="en-US" sz="2000" dirty="0" err="1"/>
              <a:t>int</a:t>
            </a:r>
            <a:r>
              <a:rPr lang="ru-RU" sz="2000" dirty="0"/>
              <a:t>[ ]</a:t>
            </a:r>
            <a:r>
              <a:rPr lang="en-US" sz="2000" dirty="0"/>
              <a:t> </a:t>
            </a:r>
            <a:r>
              <a:rPr lang="ru-RU" sz="2000" dirty="0"/>
              <a:t>неправильно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б) Программа скомпилируется, но на этапе выполнения будет выброшено исключе­ние</a:t>
            </a:r>
            <a:br>
              <a:rPr lang="ru-RU" sz="2000" dirty="0"/>
            </a:br>
            <a:r>
              <a:rPr lang="ru-RU" sz="2000" dirty="0"/>
              <a:t>     </a:t>
            </a:r>
            <a:r>
              <a:rPr lang="en-US" sz="2000" dirty="0" err="1"/>
              <a:t>ArraylndexOutOfBoundsException</a:t>
            </a:r>
            <a:endParaRPr lang="ru-RU" sz="2000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в)</a:t>
            </a:r>
            <a:r>
              <a:rPr lang="en-US" sz="2000" dirty="0"/>
              <a:t> </a:t>
            </a:r>
            <a:r>
              <a:rPr lang="ru-RU" sz="2000" dirty="0"/>
              <a:t>Программа скомпилируется и выполнится без ошибок, но не создаст выходной поток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г)</a:t>
            </a:r>
            <a:r>
              <a:rPr lang="en-US" sz="2000" dirty="0"/>
              <a:t> </a:t>
            </a:r>
            <a:r>
              <a:rPr lang="ru-RU" sz="2000" dirty="0"/>
              <a:t>Программа скомпилируется и выполнится без ошибок, а также напечатает числа от 0 до 19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д)</a:t>
            </a:r>
            <a:r>
              <a:rPr lang="en-US" sz="2000" dirty="0"/>
              <a:t> </a:t>
            </a:r>
            <a:r>
              <a:rPr lang="ru-RU" sz="2000" dirty="0"/>
              <a:t>Программа скомпилируется и выполнится без ошибок, а также напечатает двадцать раз 0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000" dirty="0"/>
              <a:t>е)</a:t>
            </a:r>
            <a:r>
              <a:rPr lang="en-US" sz="2000" dirty="0"/>
              <a:t> </a:t>
            </a:r>
            <a:r>
              <a:rPr lang="ru-RU" sz="2000" dirty="0"/>
              <a:t>Программа скомпилируется и выполнится без ошибок, а также напечатает двадцать раз </a:t>
            </a:r>
            <a:r>
              <a:rPr lang="en-US" sz="2000" dirty="0"/>
              <a:t>null</a:t>
            </a: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11704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10067"/>
            <a:ext cx="12056533" cy="3471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26</a:t>
            </a:r>
            <a:r>
              <a:rPr lang="ru-RU" sz="2400" dirty="0"/>
              <a:t> Дана следующая программа, какое предложение верно?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516467"/>
            <a:ext cx="12056533" cy="6265333"/>
          </a:xfrm>
        </p:spPr>
        <p:txBody>
          <a:bodyPr numCol="2">
            <a:normAutofit fontScale="92500" lnSpcReduction="20000"/>
          </a:bodyPr>
          <a:lstStyle/>
          <a:p>
            <a:pPr algn="l">
              <a:spcBef>
                <a:spcPts val="0"/>
              </a:spcBef>
            </a:pPr>
            <a:r>
              <a:rPr lang="en-US" sz="2600" dirty="0"/>
              <a:t>class Test {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public static void main(String[] </a:t>
            </a:r>
            <a:r>
              <a:rPr lang="en-US" sz="2600" dirty="0" err="1"/>
              <a:t>args</a:t>
            </a:r>
            <a:r>
              <a:rPr lang="en-US" sz="2600" dirty="0"/>
              <a:t>) {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String[] numbers = { "one", "two", "three", "four" };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if (</a:t>
            </a:r>
            <a:r>
              <a:rPr lang="en-US" sz="2600" dirty="0" err="1"/>
              <a:t>args.length</a:t>
            </a:r>
            <a:r>
              <a:rPr lang="en-US" sz="2600" dirty="0"/>
              <a:t> == 0) {</a:t>
            </a:r>
          </a:p>
          <a:p>
            <a:pPr algn="l">
              <a:spcBef>
                <a:spcPts val="0"/>
              </a:spcBef>
            </a:pPr>
            <a:r>
              <a:rPr lang="en-US" sz="2600" dirty="0" err="1"/>
              <a:t>System.out.println</a:t>
            </a:r>
            <a:r>
              <a:rPr lang="en-US" sz="2600" dirty="0"/>
              <a:t>("no arguments"); } 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else  {</a:t>
            </a:r>
          </a:p>
          <a:p>
            <a:pPr algn="l">
              <a:spcBef>
                <a:spcPts val="0"/>
              </a:spcBef>
            </a:pPr>
            <a:r>
              <a:rPr lang="en-US" sz="2600" dirty="0" err="1"/>
              <a:t>System.out.println</a:t>
            </a:r>
            <a:r>
              <a:rPr lang="en-US" sz="2600" dirty="0"/>
              <a:t>(numbers[ </a:t>
            </a:r>
            <a:r>
              <a:rPr lang="en-US" sz="2600" dirty="0" err="1"/>
              <a:t>args.length</a:t>
            </a:r>
            <a:r>
              <a:rPr lang="en-US" sz="2600" dirty="0"/>
              <a:t>  ] + " arguments");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sz="2600" dirty="0"/>
              <a:t>}}</a:t>
            </a:r>
            <a:endParaRPr lang="ru-RU" sz="2600" dirty="0"/>
          </a:p>
          <a:p>
            <a:pPr algn="l">
              <a:spcBef>
                <a:spcPts val="0"/>
              </a:spcBef>
            </a:pPr>
            <a:endParaRPr lang="ru-RU" sz="2600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>
                <a:solidFill>
                  <a:srgbClr val="FF0000"/>
                </a:solidFill>
              </a:rPr>
              <a:t>Выберите один правильный ответ.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а) На этапе компиляции произойдет ошибка.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б) Программа выбросит исключение </a:t>
            </a:r>
            <a:r>
              <a:rPr lang="en-US" sz="2600" dirty="0" err="1"/>
              <a:t>NullPointerException</a:t>
            </a:r>
            <a:r>
              <a:rPr lang="ru-RU" sz="2600" dirty="0"/>
              <a:t>, если при выполнении в нее не будут</a:t>
            </a:r>
            <a:br>
              <a:rPr lang="ru-RU" sz="2600" dirty="0"/>
            </a:br>
            <a:r>
              <a:rPr lang="ru-RU" sz="2600" dirty="0"/>
              <a:t>переданы аргументы.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в) При вызове программы с пустой строкой аргументов или с тремя аргументами она соответственно выведет "</a:t>
            </a:r>
            <a:r>
              <a:rPr lang="en-US" sz="2600" dirty="0"/>
              <a:t>no arguments</a:t>
            </a:r>
            <a:r>
              <a:rPr lang="ru-RU" sz="2600" dirty="0"/>
              <a:t>" или "</a:t>
            </a:r>
            <a:r>
              <a:rPr lang="en-US" sz="2600" dirty="0"/>
              <a:t>two arguments</a:t>
            </a:r>
            <a:r>
              <a:rPr lang="ru-RU" sz="2600" dirty="0"/>
              <a:t>"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г) При вызове программы с пустой строкой аргументов или с тремя аргументами она соответственно выведет"</a:t>
            </a:r>
            <a:r>
              <a:rPr lang="en-US" sz="2600" dirty="0"/>
              <a:t>no arguments</a:t>
            </a:r>
            <a:r>
              <a:rPr lang="ru-RU" sz="2600" dirty="0"/>
              <a:t>" или "</a:t>
            </a:r>
            <a:r>
              <a:rPr lang="en-US" sz="2600" dirty="0"/>
              <a:t>three arguments</a:t>
            </a:r>
            <a:r>
              <a:rPr lang="ru-RU" sz="2600" dirty="0"/>
              <a:t>".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д) При вызове программы с пустой строкой аргументов или с тремя аргументами она соответственно</a:t>
            </a:r>
            <a:br>
              <a:rPr lang="ru-RU" sz="2600" dirty="0"/>
            </a:br>
            <a:r>
              <a:rPr lang="ru-RU" sz="2600" dirty="0"/>
              <a:t>выведет "</a:t>
            </a:r>
            <a:r>
              <a:rPr lang="en-US" sz="2600" dirty="0"/>
              <a:t>no arguments</a:t>
            </a:r>
            <a:r>
              <a:rPr lang="ru-RU" sz="2600" dirty="0"/>
              <a:t>" или "</a:t>
            </a:r>
            <a:r>
              <a:rPr lang="en-US" sz="2600" dirty="0"/>
              <a:t>four arguments</a:t>
            </a:r>
            <a:r>
              <a:rPr lang="ru-RU" sz="2600" dirty="0"/>
              <a:t>".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600" dirty="0"/>
              <a:t>е) При вызове программы с пустой строкой аргументов или с тремя аргументами она соответственно</a:t>
            </a:r>
            <a:br>
              <a:rPr lang="ru-RU" sz="2600" dirty="0"/>
            </a:br>
            <a:r>
              <a:rPr lang="ru-RU" sz="2600" dirty="0"/>
              <a:t>выведет "</a:t>
            </a:r>
            <a:r>
              <a:rPr lang="en-US" sz="2600" dirty="0"/>
              <a:t>one arguments</a:t>
            </a:r>
            <a:r>
              <a:rPr lang="ru-RU" sz="2600" dirty="0"/>
              <a:t>" или "</a:t>
            </a:r>
            <a:r>
              <a:rPr lang="en-US" sz="2600" dirty="0"/>
              <a:t>four arguments</a:t>
            </a:r>
            <a:r>
              <a:rPr lang="ru-RU" sz="2600" dirty="0"/>
              <a:t>".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556797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10067"/>
            <a:ext cx="12056533" cy="609600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27</a:t>
            </a:r>
            <a:r>
              <a:rPr lang="ru-RU" sz="2400" dirty="0"/>
              <a:t> Что получится, если попытаться откомпилировать и выполнить следующую программу?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804333"/>
            <a:ext cx="12056533" cy="5977467"/>
          </a:xfrm>
        </p:spPr>
        <p:txBody>
          <a:bodyPr numCol="2">
            <a:normAutofit lnSpcReduction="10000"/>
          </a:bodyPr>
          <a:lstStyle/>
          <a:p>
            <a:pPr algn="l">
              <a:spcBef>
                <a:spcPts val="0"/>
              </a:spcBef>
            </a:pPr>
            <a:r>
              <a:rPr lang="en-US" sz="2800" dirty="0"/>
              <a:t>public class Test  { 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[] </a:t>
            </a:r>
            <a:r>
              <a:rPr lang="en-US" sz="2800" dirty="0" err="1"/>
              <a:t>ia</a:t>
            </a:r>
            <a:r>
              <a:rPr lang="en-US" sz="2800" dirty="0"/>
              <a:t> = new </a:t>
            </a:r>
            <a:r>
              <a:rPr lang="en-US" sz="2800" dirty="0" err="1"/>
              <a:t>int</a:t>
            </a:r>
            <a:r>
              <a:rPr lang="en-US" sz="2800" dirty="0"/>
              <a:t>[1];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    </a:t>
            </a:r>
            <a:r>
              <a:rPr lang="en-US" sz="2800" dirty="0" err="1"/>
              <a:t>boolean</a:t>
            </a:r>
            <a:r>
              <a:rPr lang="en-US" sz="2800" dirty="0"/>
              <a:t> b; 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; 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    Object o;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public static void main(String[] </a:t>
            </a:r>
            <a:r>
              <a:rPr lang="en-US" sz="2800" dirty="0" err="1"/>
              <a:t>args</a:t>
            </a:r>
            <a:r>
              <a:rPr lang="en-US" sz="2800" dirty="0"/>
              <a:t>)   {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Test instance = new Test(); </a:t>
            </a:r>
          </a:p>
          <a:p>
            <a:pPr algn="l">
              <a:spcBef>
                <a:spcPts val="0"/>
              </a:spcBef>
            </a:pPr>
            <a:r>
              <a:rPr lang="en-US" sz="2800" dirty="0" err="1"/>
              <a:t>instance.print</a:t>
            </a:r>
            <a:r>
              <a:rPr lang="en-US" sz="2800" dirty="0"/>
              <a:t>();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}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public void print()  {</a:t>
            </a:r>
          </a:p>
          <a:p>
            <a:pPr algn="l">
              <a:spcBef>
                <a:spcPts val="0"/>
              </a:spcBef>
            </a:pPr>
            <a:r>
              <a:rPr lang="en-US" sz="2800" dirty="0" err="1"/>
              <a:t>System.out.println</a:t>
            </a:r>
            <a:r>
              <a:rPr lang="en-US" sz="2800" dirty="0"/>
              <a:t>(</a:t>
            </a:r>
            <a:r>
              <a:rPr lang="en-US" sz="2800" dirty="0" err="1"/>
              <a:t>ia</a:t>
            </a:r>
            <a:r>
              <a:rPr lang="en-US" sz="2800" dirty="0"/>
              <a:t>[0] + "  " + b + "  " + </a:t>
            </a:r>
            <a:r>
              <a:rPr lang="en-US" sz="2800" dirty="0" err="1"/>
              <a:t>i</a:t>
            </a:r>
            <a:r>
              <a:rPr lang="en-US" sz="2800" dirty="0"/>
              <a:t> + "  " + o);</a:t>
            </a:r>
          </a:p>
          <a:p>
            <a:pPr algn="l">
              <a:spcBef>
                <a:spcPts val="0"/>
              </a:spcBef>
            </a:pPr>
            <a:r>
              <a:rPr lang="en-US" sz="2800" dirty="0"/>
              <a:t>}}</a:t>
            </a:r>
            <a:endParaRPr lang="ru-RU" sz="2800" dirty="0"/>
          </a:p>
          <a:p>
            <a:pPr algn="l"/>
            <a:r>
              <a:rPr lang="ru-RU" sz="2800" dirty="0"/>
              <a:t>Выберите один правильный ответ.</a:t>
            </a:r>
          </a:p>
          <a:p>
            <a:pPr algn="l"/>
            <a:r>
              <a:rPr lang="ru-RU" sz="2800" dirty="0"/>
              <a:t>а) Произойдет ошибка на этапе компиляции, потому что переменные </a:t>
            </a:r>
            <a:r>
              <a:rPr lang="ru-RU" sz="2800" dirty="0" err="1"/>
              <a:t>непроинициализированы</a:t>
            </a:r>
            <a:endParaRPr lang="ru-RU" sz="2800" dirty="0"/>
          </a:p>
          <a:p>
            <a:pPr algn="l"/>
            <a:r>
              <a:rPr lang="ru-RU" sz="2800" dirty="0"/>
              <a:t>б) На этапе выполнения будет выброшено исключение </a:t>
            </a:r>
            <a:r>
              <a:rPr lang="en-US" sz="2800" dirty="0"/>
              <a:t>Java</a:t>
            </a:r>
            <a:r>
              <a:rPr lang="ru-RU" sz="2800" dirty="0"/>
              <a:t>.</a:t>
            </a:r>
            <a:r>
              <a:rPr lang="en-US" sz="2800" dirty="0" err="1"/>
              <a:t>lang</a:t>
            </a:r>
            <a:r>
              <a:rPr lang="ru-RU" sz="2800" dirty="0"/>
              <a:t>.</a:t>
            </a:r>
            <a:r>
              <a:rPr lang="en-US" sz="2800" dirty="0" err="1"/>
              <a:t>NullPointerException</a:t>
            </a:r>
            <a:endParaRPr lang="ru-RU" sz="2800" dirty="0"/>
          </a:p>
          <a:p>
            <a:pPr algn="l"/>
            <a:r>
              <a:rPr lang="ru-RU" sz="2800" dirty="0"/>
              <a:t>в) Программа выведет на экран 0 </a:t>
            </a:r>
            <a:r>
              <a:rPr lang="en-US" sz="2800" dirty="0"/>
              <a:t>false </a:t>
            </a:r>
            <a:r>
              <a:rPr lang="en-US" sz="2800" dirty="0" err="1"/>
              <a:t>NaN</a:t>
            </a:r>
            <a:r>
              <a:rPr lang="en-US" sz="2800" dirty="0"/>
              <a:t> null</a:t>
            </a:r>
            <a:endParaRPr lang="ru-RU" sz="2800" dirty="0"/>
          </a:p>
          <a:p>
            <a:pPr algn="l"/>
            <a:r>
              <a:rPr lang="ru-RU" sz="2800" dirty="0"/>
              <a:t>г) Программа выведет на экран 0 </a:t>
            </a:r>
            <a:r>
              <a:rPr lang="en-US" sz="2800" dirty="0"/>
              <a:t>false</a:t>
            </a:r>
            <a:r>
              <a:rPr lang="ru-RU" sz="2800" dirty="0"/>
              <a:t> 0 </a:t>
            </a:r>
            <a:r>
              <a:rPr lang="en-US" sz="2800" dirty="0"/>
              <a:t>null</a:t>
            </a:r>
            <a:endParaRPr lang="ru-RU" sz="2800" dirty="0"/>
          </a:p>
          <a:p>
            <a:pPr algn="l"/>
            <a:r>
              <a:rPr lang="ru-RU" sz="2800" dirty="0"/>
              <a:t>д) Программа выведет на экран </a:t>
            </a:r>
            <a:r>
              <a:rPr lang="en-US" sz="2800" dirty="0"/>
              <a:t>null</a:t>
            </a:r>
            <a:r>
              <a:rPr lang="ru-RU" sz="2800" dirty="0"/>
              <a:t> 0 0 </a:t>
            </a:r>
            <a:r>
              <a:rPr lang="en-US" sz="2800" dirty="0"/>
              <a:t>null</a:t>
            </a:r>
            <a:endParaRPr lang="ru-RU" sz="2800" dirty="0"/>
          </a:p>
          <a:p>
            <a:pPr algn="l"/>
            <a:r>
              <a:rPr lang="ru-RU" sz="2800" dirty="0"/>
              <a:t>е) Программа выведет на экран </a:t>
            </a:r>
            <a:r>
              <a:rPr lang="en-US" sz="2800" dirty="0"/>
              <a:t>null false</a:t>
            </a:r>
            <a:r>
              <a:rPr lang="ru-RU" sz="2800" dirty="0"/>
              <a:t> 0 </a:t>
            </a:r>
            <a:r>
              <a:rPr lang="en-US" sz="2800" dirty="0"/>
              <a:t>null</a:t>
            </a:r>
            <a:r>
              <a:rPr lang="ru-RU" sz="2800" dirty="0"/>
              <a:t>.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099362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10067"/>
            <a:ext cx="12056533" cy="609600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28</a:t>
            </a:r>
            <a:r>
              <a:rPr lang="ru-RU" sz="2400" dirty="0"/>
              <a:t> Для заданного класса какой из способов обращения к нему извне пакета </a:t>
            </a:r>
            <a:r>
              <a:rPr lang="en-US" sz="2400" dirty="0"/>
              <a:t>net</a:t>
            </a:r>
            <a:r>
              <a:rPr lang="ru-RU" sz="2400" dirty="0"/>
              <a:t>. </a:t>
            </a:r>
            <a:r>
              <a:rPr lang="en-US" sz="2400" dirty="0" err="1"/>
              <a:t>basemaster</a:t>
            </a:r>
            <a:r>
              <a:rPr lang="en-US" sz="2400" dirty="0"/>
              <a:t> </a:t>
            </a:r>
            <a:r>
              <a:rPr lang="ru-RU" sz="2400" dirty="0"/>
              <a:t>является допустимым?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804333"/>
            <a:ext cx="12056533" cy="5977467"/>
          </a:xfrm>
        </p:spPr>
        <p:txBody>
          <a:bodyPr numCol="1">
            <a:normAutofit/>
          </a:bodyPr>
          <a:lstStyle/>
          <a:p>
            <a:pPr algn="l"/>
            <a:r>
              <a:rPr lang="en-US" sz="3400" dirty="0"/>
              <a:t>package </a:t>
            </a:r>
            <a:r>
              <a:rPr lang="en-US" sz="3400" dirty="0" err="1"/>
              <a:t>net.basemaster</a:t>
            </a:r>
            <a:r>
              <a:rPr lang="en-US" sz="3400" dirty="0"/>
              <a:t>; </a:t>
            </a:r>
            <a:endParaRPr lang="ru-RU" sz="3400" dirty="0"/>
          </a:p>
          <a:p>
            <a:pPr algn="l"/>
            <a:r>
              <a:rPr lang="en-US" sz="3400" dirty="0"/>
              <a:t>public class Base {</a:t>
            </a:r>
            <a:endParaRPr lang="ru-RU" sz="3400" dirty="0"/>
          </a:p>
          <a:p>
            <a:pPr algn="l"/>
            <a:endParaRPr lang="ru-RU" sz="3400" dirty="0"/>
          </a:p>
          <a:p>
            <a:pPr algn="l"/>
            <a:r>
              <a:rPr lang="ru-RU" sz="3400" dirty="0">
                <a:solidFill>
                  <a:srgbClr val="FF0000"/>
                </a:solidFill>
              </a:rPr>
              <a:t>Выберите два правильных ответа</a:t>
            </a:r>
          </a:p>
          <a:p>
            <a:pPr algn="l"/>
            <a:r>
              <a:rPr lang="ru-RU" sz="3400" dirty="0"/>
              <a:t>а) Обращение к классу как </a:t>
            </a:r>
            <a:r>
              <a:rPr lang="en-US" sz="3400" dirty="0"/>
              <a:t>Base</a:t>
            </a:r>
            <a:r>
              <a:rPr lang="ru-RU" sz="3400" dirty="0"/>
              <a:t>.</a:t>
            </a:r>
          </a:p>
          <a:p>
            <a:pPr algn="l"/>
            <a:r>
              <a:rPr lang="ru-RU" sz="3400" dirty="0"/>
              <a:t>б) Обращение к классу как </a:t>
            </a:r>
            <a:r>
              <a:rPr lang="en-US" sz="3400" dirty="0" err="1"/>
              <a:t>basemaster</a:t>
            </a:r>
            <a:r>
              <a:rPr lang="ru-RU" sz="3400" dirty="0"/>
              <a:t>.</a:t>
            </a:r>
            <a:r>
              <a:rPr lang="en-US" sz="3400" dirty="0"/>
              <a:t>Base</a:t>
            </a:r>
            <a:r>
              <a:rPr lang="ru-RU" sz="3400" dirty="0"/>
              <a:t>.</a:t>
            </a:r>
          </a:p>
          <a:p>
            <a:pPr algn="l"/>
            <a:r>
              <a:rPr lang="ru-RU" sz="3400" dirty="0"/>
              <a:t>в) Обращение к классу как </a:t>
            </a:r>
            <a:r>
              <a:rPr lang="en-US" sz="3400" dirty="0"/>
              <a:t>net</a:t>
            </a:r>
            <a:r>
              <a:rPr lang="ru-RU" sz="3400" dirty="0"/>
              <a:t>.</a:t>
            </a:r>
            <a:r>
              <a:rPr lang="en-US" sz="3400" dirty="0" err="1"/>
              <a:t>basemaster</a:t>
            </a:r>
            <a:r>
              <a:rPr lang="ru-RU" sz="3400" dirty="0"/>
              <a:t>.</a:t>
            </a:r>
            <a:r>
              <a:rPr lang="en-US" sz="3400" dirty="0"/>
              <a:t>Base</a:t>
            </a:r>
            <a:r>
              <a:rPr lang="ru-RU" sz="3400" dirty="0"/>
              <a:t>.</a:t>
            </a:r>
          </a:p>
          <a:p>
            <a:pPr algn="l"/>
            <a:r>
              <a:rPr lang="ru-RU" sz="3400" dirty="0"/>
              <a:t>г) Импорт </a:t>
            </a:r>
            <a:r>
              <a:rPr lang="en-US" sz="3400" dirty="0"/>
              <a:t>net</a:t>
            </a:r>
            <a:r>
              <a:rPr lang="ru-RU" sz="3400" dirty="0"/>
              <a:t>.</a:t>
            </a:r>
            <a:r>
              <a:rPr lang="en-US" sz="3400" dirty="0" err="1"/>
              <a:t>basemaster</a:t>
            </a:r>
            <a:r>
              <a:rPr lang="ru-RU" sz="3400" dirty="0"/>
              <a:t>.* и обращение к классу как </a:t>
            </a:r>
            <a:r>
              <a:rPr lang="en-US" sz="3400" dirty="0"/>
              <a:t>Base</a:t>
            </a:r>
            <a:r>
              <a:rPr lang="ru-RU" sz="3400" dirty="0"/>
              <a:t>.</a:t>
            </a:r>
          </a:p>
          <a:p>
            <a:pPr algn="l"/>
            <a:r>
              <a:rPr lang="ru-RU" sz="3400" dirty="0"/>
              <a:t>д) Импорт </a:t>
            </a:r>
            <a:r>
              <a:rPr lang="en-US" sz="3400" dirty="0"/>
              <a:t>net</a:t>
            </a:r>
            <a:r>
              <a:rPr lang="ru-RU" sz="3400" dirty="0"/>
              <a:t>.* и обращение к классу как </a:t>
            </a:r>
            <a:r>
              <a:rPr lang="en-US" sz="3400" dirty="0" err="1"/>
              <a:t>basemaster</a:t>
            </a:r>
            <a:r>
              <a:rPr lang="ru-RU" sz="3400" dirty="0"/>
              <a:t>.</a:t>
            </a:r>
            <a:r>
              <a:rPr lang="en-US" sz="3400" dirty="0"/>
              <a:t>Base</a:t>
            </a:r>
            <a:r>
              <a:rPr lang="ru-RU" sz="3400" dirty="0"/>
              <a:t>.</a:t>
            </a:r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8784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10067"/>
            <a:ext cx="12056533" cy="609600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29</a:t>
            </a:r>
            <a:r>
              <a:rPr lang="ru-RU" sz="2400" dirty="0"/>
              <a:t> Какое из следующих определений класса является верным определением класса, который нельзя расширить?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804333"/>
            <a:ext cx="12056533" cy="5977467"/>
          </a:xfrm>
        </p:spPr>
        <p:txBody>
          <a:bodyPr numCol="1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3200" dirty="0"/>
              <a:t>Выберите один правильный ответ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3200" dirty="0"/>
              <a:t>а) </a:t>
            </a:r>
            <a:r>
              <a:rPr lang="en-US" sz="3200" dirty="0"/>
              <a:t>class Link</a:t>
            </a:r>
            <a:r>
              <a:rPr lang="ru-RU" sz="3200" dirty="0"/>
              <a:t> {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3200" dirty="0"/>
              <a:t>б</a:t>
            </a:r>
            <a:r>
              <a:rPr lang="en-US" sz="3200" dirty="0"/>
              <a:t>)</a:t>
            </a:r>
            <a:r>
              <a:rPr lang="ru-RU" sz="3200" dirty="0"/>
              <a:t> </a:t>
            </a:r>
            <a:r>
              <a:rPr lang="en-US" sz="3200" dirty="0"/>
              <a:t>abstract class Link { }</a:t>
            </a:r>
            <a:endParaRPr lang="ru-RU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3200" dirty="0"/>
              <a:t>в</a:t>
            </a:r>
            <a:r>
              <a:rPr lang="en-US" sz="3200" dirty="0"/>
              <a:t>)</a:t>
            </a:r>
            <a:r>
              <a:rPr lang="ru-RU" sz="3200" dirty="0"/>
              <a:t> </a:t>
            </a:r>
            <a:r>
              <a:rPr lang="en-US" sz="3200" dirty="0"/>
              <a:t>native class Link { }</a:t>
            </a:r>
            <a:br>
              <a:rPr lang="en-US" sz="3200" dirty="0"/>
            </a:br>
            <a:r>
              <a:rPr lang="ru-RU" sz="3200" dirty="0"/>
              <a:t>г</a:t>
            </a:r>
            <a:r>
              <a:rPr lang="en-US" sz="3200" dirty="0"/>
              <a:t>) static class Link { }</a:t>
            </a:r>
            <a:endParaRPr lang="ru-RU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3200" dirty="0"/>
              <a:t>д</a:t>
            </a:r>
            <a:r>
              <a:rPr lang="en-US" sz="3200" dirty="0"/>
              <a:t>)</a:t>
            </a:r>
            <a:r>
              <a:rPr lang="ru-RU" sz="3200" dirty="0"/>
              <a:t> </a:t>
            </a:r>
            <a:r>
              <a:rPr lang="en-US" sz="3200" dirty="0"/>
              <a:t>final class Link { }</a:t>
            </a:r>
            <a:endParaRPr lang="ru-RU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dirty="0"/>
              <a:t>е)</a:t>
            </a:r>
            <a:r>
              <a:rPr lang="ru-RU" sz="3200" dirty="0"/>
              <a:t> </a:t>
            </a:r>
            <a:r>
              <a:rPr lang="en-US" sz="3200" dirty="0"/>
              <a:t>private class Link { }</a:t>
            </a:r>
            <a:endParaRPr lang="ru-RU" sz="3200" dirty="0"/>
          </a:p>
          <a:p>
            <a:pPr algn="l"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896303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267" y="110067"/>
            <a:ext cx="12056533" cy="397933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</a:rPr>
              <a:t>Вопрос 30</a:t>
            </a:r>
            <a:r>
              <a:rPr lang="ru-RU" sz="2400" dirty="0"/>
              <a:t> Что, если есть, неправильно в этом коде?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267" y="804333"/>
            <a:ext cx="12056533" cy="5977467"/>
          </a:xfrm>
        </p:spPr>
        <p:txBody>
          <a:bodyPr numCol="1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abstract class Test {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transient </a:t>
            </a:r>
            <a:r>
              <a:rPr lang="en-US" dirty="0" err="1"/>
              <a:t>int</a:t>
            </a:r>
            <a:r>
              <a:rPr lang="en-US" dirty="0"/>
              <a:t> j;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synchronized </a:t>
            </a:r>
            <a:r>
              <a:rPr lang="en-US" dirty="0" err="1"/>
              <a:t>int</a:t>
            </a:r>
            <a:r>
              <a:rPr lang="en-US" dirty="0"/>
              <a:t> k;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final void Test() {};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static void f() {};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}</a:t>
            </a:r>
            <a:endParaRPr lang="ru-RU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Выберите один правильный ответ</a:t>
            </a:r>
          </a:p>
          <a:p>
            <a:pPr algn="l">
              <a:lnSpc>
                <a:spcPct val="110000"/>
              </a:lnSpc>
            </a:pPr>
            <a:r>
              <a:rPr lang="ru-RU" sz="2200" dirty="0"/>
              <a:t>а) Класс </a:t>
            </a:r>
            <a:r>
              <a:rPr lang="en-US" sz="2200" dirty="0"/>
              <a:t>Test</a:t>
            </a:r>
            <a:r>
              <a:rPr lang="ru-RU" sz="2200" dirty="0"/>
              <a:t> нельзя объявить как </a:t>
            </a:r>
            <a:r>
              <a:rPr lang="en-US" sz="2200" dirty="0"/>
              <a:t>abstract</a:t>
            </a: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б) Поле </a:t>
            </a:r>
            <a:r>
              <a:rPr lang="en-US" sz="2200" dirty="0"/>
              <a:t>j</a:t>
            </a:r>
            <a:r>
              <a:rPr lang="ru-RU" sz="2200" dirty="0"/>
              <a:t> нельзя объявить как </a:t>
            </a:r>
            <a:r>
              <a:rPr lang="en-US" sz="2200" dirty="0"/>
              <a:t>transient</a:t>
            </a: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в) Поле к нельзя объявить как </a:t>
            </a:r>
            <a:r>
              <a:rPr lang="en-US" sz="2200" dirty="0"/>
              <a:t>synchronized</a:t>
            </a: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г) Метод </a:t>
            </a:r>
            <a:r>
              <a:rPr lang="en-US" sz="2200" dirty="0"/>
              <a:t>Test</a:t>
            </a:r>
            <a:r>
              <a:rPr lang="ru-RU" sz="2200" dirty="0"/>
              <a:t>() нельзя объявить как </a:t>
            </a:r>
            <a:r>
              <a:rPr lang="en-US" sz="2200" dirty="0"/>
              <a:t>final</a:t>
            </a: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д) Метод </a:t>
            </a:r>
            <a:r>
              <a:rPr lang="en-US" sz="2200" dirty="0"/>
              <a:t>f</a:t>
            </a:r>
            <a:r>
              <a:rPr lang="ru-RU" sz="2200" dirty="0"/>
              <a:t>() нельзя объявить как </a:t>
            </a:r>
            <a:r>
              <a:rPr lang="en-US" sz="2200" dirty="0"/>
              <a:t>static</a:t>
            </a:r>
            <a:endParaRPr lang="ru-RU" sz="2200" dirty="0"/>
          </a:p>
          <a:p>
            <a:pPr algn="l">
              <a:lnSpc>
                <a:spcPct val="110000"/>
              </a:lnSpc>
            </a:pPr>
            <a:r>
              <a:rPr lang="ru-RU" sz="2200" dirty="0"/>
              <a:t>е) Все правильно, код откомпилируется без ошибок.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ru-RU" sz="2200" dirty="0"/>
          </a:p>
          <a:p>
            <a:pPr algn="l">
              <a:spcBef>
                <a:spcPts val="0"/>
              </a:spcBef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70526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ru-RU" sz="2400" b="1" dirty="0"/>
              <a:t>3</a:t>
            </a:r>
            <a:r>
              <a:rPr lang="ru-RU" altLang="ru-RU" sz="2400" b="1" dirty="0"/>
              <a:t>1. Какой интерфейс наиболее пригоден для создания класса, содержащего несортированные уникальные объекты?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1) </a:t>
            </a:r>
            <a:r>
              <a:rPr lang="ru-RU" altLang="ru-RU" dirty="0" err="1"/>
              <a:t>Set</a:t>
            </a:r>
            <a:r>
              <a:rPr lang="ru-RU" altLang="ru-RU" dirty="0"/>
              <a:t>;</a:t>
            </a:r>
          </a:p>
          <a:p>
            <a:pPr eaLnBrk="1" hangingPunct="1"/>
            <a:r>
              <a:rPr lang="ru-RU" altLang="ru-RU" dirty="0"/>
              <a:t>2) </a:t>
            </a:r>
            <a:r>
              <a:rPr lang="ru-RU" altLang="ru-RU" dirty="0" err="1"/>
              <a:t>List</a:t>
            </a:r>
            <a:r>
              <a:rPr lang="ru-RU" altLang="ru-RU" dirty="0"/>
              <a:t>;</a:t>
            </a:r>
          </a:p>
          <a:p>
            <a:pPr eaLnBrk="1" hangingPunct="1"/>
            <a:r>
              <a:rPr lang="ru-RU" altLang="ru-RU" dirty="0"/>
              <a:t>3) </a:t>
            </a:r>
            <a:r>
              <a:rPr lang="ru-RU" altLang="ru-RU" dirty="0" err="1"/>
              <a:t>Map</a:t>
            </a:r>
            <a:r>
              <a:rPr lang="ru-RU" altLang="ru-RU" dirty="0"/>
              <a:t>;</a:t>
            </a:r>
          </a:p>
          <a:p>
            <a:pPr eaLnBrk="1" hangingPunct="1"/>
            <a:r>
              <a:rPr lang="ru-RU" altLang="ru-RU" dirty="0"/>
              <a:t>4) </a:t>
            </a:r>
            <a:r>
              <a:rPr lang="ru-RU" altLang="ru-RU" dirty="0" err="1"/>
              <a:t>Vector</a:t>
            </a:r>
            <a:r>
              <a:rPr lang="ru-RU" altLang="ru-RU" dirty="0"/>
              <a:t>;</a:t>
            </a:r>
          </a:p>
          <a:p>
            <a:pPr eaLnBrk="1" hangingPunct="1"/>
            <a:r>
              <a:rPr lang="ru-RU" altLang="ru-RU" dirty="0"/>
              <a:t>5) нет правильного ответа.</a:t>
            </a:r>
          </a:p>
          <a:p>
            <a:pPr eaLnBrk="1" hangingPunct="1"/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20658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ru-RU" sz="2400" b="1" dirty="0"/>
              <a:t>3</a:t>
            </a:r>
            <a:r>
              <a:rPr lang="ru-RU" altLang="ru-RU" sz="2400" b="1" dirty="0"/>
              <a:t>2. Какие из фрагментов кода создадут объект класса </a:t>
            </a:r>
            <a:r>
              <a:rPr lang="ru-RU" altLang="ru-RU" sz="2400" b="1" dirty="0" err="1"/>
              <a:t>ArrayList</a:t>
            </a:r>
            <a:r>
              <a:rPr lang="ru-RU" altLang="ru-RU" sz="2400" b="1" dirty="0"/>
              <a:t> и добавят элемент?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1) </a:t>
            </a:r>
            <a:r>
              <a:rPr lang="ru-RU" altLang="ru-RU" dirty="0" err="1"/>
              <a:t>ArrayList</a:t>
            </a:r>
            <a:r>
              <a:rPr lang="ru-RU" altLang="ru-RU" dirty="0"/>
              <a:t> a = </a:t>
            </a:r>
            <a:r>
              <a:rPr lang="ru-RU" altLang="ru-RU" b="1" dirty="0" err="1"/>
              <a:t>new</a:t>
            </a:r>
            <a:r>
              <a:rPr lang="ru-RU" altLang="ru-RU" b="1" dirty="0"/>
              <a:t> </a:t>
            </a:r>
            <a:r>
              <a:rPr lang="ru-RU" altLang="ru-RU" dirty="0" err="1"/>
              <a:t>ArrayList</a:t>
            </a:r>
            <a:r>
              <a:rPr lang="ru-RU" altLang="ru-RU" dirty="0"/>
              <a:t>();</a:t>
            </a:r>
            <a:r>
              <a:rPr lang="ru-RU" altLang="ru-RU" dirty="0" err="1"/>
              <a:t>a.add</a:t>
            </a:r>
            <a:r>
              <a:rPr lang="ru-RU" altLang="ru-RU" dirty="0"/>
              <a:t>(“0”);</a:t>
            </a:r>
          </a:p>
          <a:p>
            <a:pPr eaLnBrk="1" hangingPunct="1"/>
            <a:r>
              <a:rPr lang="ru-RU" altLang="ru-RU" dirty="0"/>
              <a:t>2) </a:t>
            </a:r>
            <a:r>
              <a:rPr lang="ru-RU" altLang="ru-RU" dirty="0" err="1"/>
              <a:t>ArrayList</a:t>
            </a:r>
            <a:r>
              <a:rPr lang="ru-RU" altLang="ru-RU" dirty="0"/>
              <a:t> a = </a:t>
            </a:r>
            <a:r>
              <a:rPr lang="ru-RU" altLang="ru-RU" b="1" dirty="0" err="1"/>
              <a:t>new</a:t>
            </a:r>
            <a:r>
              <a:rPr lang="ru-RU" altLang="ru-RU" b="1" dirty="0"/>
              <a:t> </a:t>
            </a:r>
            <a:r>
              <a:rPr lang="ru-RU" altLang="ru-RU" dirty="0" err="1"/>
              <a:t>ArrayList</a:t>
            </a:r>
            <a:r>
              <a:rPr lang="ru-RU" altLang="ru-RU" dirty="0"/>
              <a:t>(); a[0]=“0”;</a:t>
            </a:r>
          </a:p>
          <a:p>
            <a:pPr eaLnBrk="1" hangingPunct="1"/>
            <a:r>
              <a:rPr lang="ru-RU" altLang="ru-RU" dirty="0"/>
              <a:t>3) </a:t>
            </a:r>
            <a:r>
              <a:rPr lang="ru-RU" altLang="ru-RU" dirty="0" err="1"/>
              <a:t>List</a:t>
            </a:r>
            <a:r>
              <a:rPr lang="ru-RU" altLang="ru-RU" dirty="0"/>
              <a:t> a = </a:t>
            </a:r>
            <a:r>
              <a:rPr lang="ru-RU" altLang="ru-RU" b="1" dirty="0" err="1"/>
              <a:t>new</a:t>
            </a:r>
            <a:r>
              <a:rPr lang="ru-RU" altLang="ru-RU" b="1" dirty="0"/>
              <a:t> </a:t>
            </a:r>
            <a:r>
              <a:rPr lang="ru-RU" altLang="ru-RU" dirty="0" err="1"/>
              <a:t>List</a:t>
            </a:r>
            <a:r>
              <a:rPr lang="ru-RU" altLang="ru-RU" dirty="0"/>
              <a:t>(); </a:t>
            </a:r>
            <a:r>
              <a:rPr lang="ru-RU" altLang="ru-RU" dirty="0" err="1"/>
              <a:t>a.add</a:t>
            </a:r>
            <a:r>
              <a:rPr lang="ru-RU" altLang="ru-RU" dirty="0"/>
              <a:t>(“0”);</a:t>
            </a:r>
          </a:p>
          <a:p>
            <a:pPr eaLnBrk="1" hangingPunct="1"/>
            <a:r>
              <a:rPr lang="ru-RU" altLang="ru-RU" dirty="0"/>
              <a:t>4) </a:t>
            </a:r>
            <a:r>
              <a:rPr lang="ru-RU" altLang="ru-RU" dirty="0" err="1"/>
              <a:t>List</a:t>
            </a:r>
            <a:r>
              <a:rPr lang="ru-RU" altLang="ru-RU" dirty="0"/>
              <a:t> a = </a:t>
            </a:r>
            <a:r>
              <a:rPr lang="ru-RU" altLang="ru-RU" b="1" dirty="0" err="1"/>
              <a:t>new</a:t>
            </a:r>
            <a:r>
              <a:rPr lang="ru-RU" altLang="ru-RU" b="1" dirty="0"/>
              <a:t> </a:t>
            </a:r>
            <a:r>
              <a:rPr lang="ru-RU" altLang="ru-RU" dirty="0" err="1"/>
              <a:t>ArrayList</a:t>
            </a:r>
            <a:r>
              <a:rPr lang="ru-RU" altLang="ru-RU" dirty="0"/>
              <a:t>(10); </a:t>
            </a:r>
            <a:r>
              <a:rPr lang="ru-RU" altLang="ru-RU" dirty="0" err="1"/>
              <a:t>a.add</a:t>
            </a:r>
            <a:r>
              <a:rPr lang="ru-RU" altLang="ru-RU" dirty="0"/>
              <a:t>(“0”);</a:t>
            </a:r>
          </a:p>
          <a:p>
            <a:pPr eaLnBrk="1" hangingPunct="1"/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740306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ru-RU" sz="2400" b="1" dirty="0"/>
              <a:t>3</a:t>
            </a:r>
            <a:r>
              <a:rPr lang="ru-RU" altLang="ru-RU" sz="2400" b="1" dirty="0"/>
              <a:t>3. Какой интерфейс реализует класс </a:t>
            </a:r>
            <a:r>
              <a:rPr lang="ru-RU" altLang="ru-RU" sz="2400" b="1" dirty="0" err="1"/>
              <a:t>Hashtable</a:t>
            </a:r>
            <a:r>
              <a:rPr lang="ru-RU" altLang="ru-RU" sz="2400" b="1" dirty="0"/>
              <a:t>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1) Set;</a:t>
            </a:r>
          </a:p>
          <a:p>
            <a:pPr eaLnBrk="1" hangingPunct="1"/>
            <a:r>
              <a:rPr lang="ru-RU" altLang="ru-RU"/>
              <a:t>2) Vector;</a:t>
            </a:r>
          </a:p>
          <a:p>
            <a:pPr eaLnBrk="1" hangingPunct="1"/>
            <a:r>
              <a:rPr lang="ru-RU" altLang="ru-RU"/>
              <a:t>3) AbstractMap;</a:t>
            </a:r>
          </a:p>
          <a:p>
            <a:pPr eaLnBrk="1" hangingPunct="1"/>
            <a:r>
              <a:rPr lang="ru-RU" altLang="ru-RU"/>
              <a:t>4) List;</a:t>
            </a:r>
          </a:p>
          <a:p>
            <a:pPr eaLnBrk="1" hangingPunct="1"/>
            <a:r>
              <a:rPr lang="ru-RU" altLang="ru-RU"/>
              <a:t>5) Map.</a:t>
            </a:r>
          </a:p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98997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0045" y="608225"/>
            <a:ext cx="11151910" cy="3303588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ru-RU" sz="2800" b="1" dirty="0"/>
              <a:t>3</a:t>
            </a:r>
            <a:r>
              <a:rPr lang="ru-RU" altLang="ru-RU" sz="2800" b="1" dirty="0"/>
              <a:t>4. Дан код. </a:t>
            </a:r>
            <a:br>
              <a:rPr lang="ru-RU" altLang="ru-RU" sz="2800" b="1" dirty="0"/>
            </a:br>
            <a:r>
              <a:rPr lang="en-US" altLang="ru-RU" sz="2800" b="1" dirty="0"/>
              <a:t>import </a:t>
            </a:r>
            <a:r>
              <a:rPr lang="en-US" altLang="ru-RU" sz="2800" b="1" dirty="0" err="1"/>
              <a:t>java.util</a:t>
            </a:r>
            <a:r>
              <a:rPr lang="en-US" altLang="ru-RU" sz="2800" b="1" dirty="0"/>
              <a:t>.*;</a:t>
            </a:r>
            <a:br>
              <a:rPr lang="en-US" altLang="ru-RU" sz="2800" b="1" dirty="0"/>
            </a:br>
            <a:r>
              <a:rPr lang="en-US" altLang="ru-RU" sz="2800" b="1" dirty="0"/>
              <a:t>class Test {</a:t>
            </a:r>
            <a:br>
              <a:rPr lang="en-US" altLang="ru-RU" sz="2800" b="1" dirty="0"/>
            </a:br>
            <a:r>
              <a:rPr lang="en-US" altLang="ru-RU" sz="2800" b="1" dirty="0"/>
              <a:t>    public static void main (String </a:t>
            </a:r>
            <a:r>
              <a:rPr lang="en-US" altLang="ru-RU" sz="2800" b="1" dirty="0" err="1"/>
              <a:t>args</a:t>
            </a:r>
            <a:r>
              <a:rPr lang="en-US" altLang="ru-RU" sz="2800" b="1" dirty="0"/>
              <a:t>[]) {</a:t>
            </a:r>
            <a:br>
              <a:rPr lang="en-US" altLang="ru-RU" sz="2800" b="1" dirty="0"/>
            </a:br>
            <a:r>
              <a:rPr lang="en-US" altLang="ru-RU" sz="2800" b="1" dirty="0"/>
              <a:t>        Object </a:t>
            </a:r>
            <a:r>
              <a:rPr lang="en-US" altLang="ru-RU" sz="2800" b="1" dirty="0" err="1"/>
              <a:t>ob</a:t>
            </a:r>
            <a:r>
              <a:rPr lang="en-US" altLang="ru-RU" sz="2800" b="1" dirty="0"/>
              <a:t> = new </a:t>
            </a:r>
            <a:r>
              <a:rPr lang="en-US" altLang="ru-RU" sz="2800" b="1" dirty="0" err="1"/>
              <a:t>HashSet</a:t>
            </a:r>
            <a:r>
              <a:rPr lang="en-US" altLang="ru-RU" sz="2800" b="1" dirty="0"/>
              <a:t>();</a:t>
            </a:r>
            <a:br>
              <a:rPr lang="en-US" altLang="ru-RU" sz="2800" b="1" dirty="0"/>
            </a:br>
            <a:r>
              <a:rPr lang="en-US" altLang="ru-RU" sz="2800" b="1" dirty="0"/>
              <a:t>        </a:t>
            </a:r>
            <a:r>
              <a:rPr lang="en-US" altLang="ru-RU" sz="2800" b="1" dirty="0" err="1"/>
              <a:t>System.out.print</a:t>
            </a:r>
            <a:r>
              <a:rPr lang="en-US" altLang="ru-RU" sz="2800" b="1" dirty="0"/>
              <a:t>((</a:t>
            </a:r>
            <a:r>
              <a:rPr lang="en-US" altLang="ru-RU" sz="2800" b="1" dirty="0" err="1"/>
              <a:t>ob</a:t>
            </a:r>
            <a:r>
              <a:rPr lang="en-US" altLang="ru-RU" sz="2800" b="1" dirty="0"/>
              <a:t> </a:t>
            </a:r>
            <a:r>
              <a:rPr lang="en-US" altLang="ru-RU" sz="2800" b="1" dirty="0" err="1"/>
              <a:t>instanceof</a:t>
            </a:r>
            <a:r>
              <a:rPr lang="en-US" altLang="ru-RU" sz="2800" b="1" dirty="0"/>
              <a:t> Set) + ", ");</a:t>
            </a:r>
            <a:br>
              <a:rPr lang="en-US" altLang="ru-RU" sz="2800" b="1" dirty="0"/>
            </a:br>
            <a:r>
              <a:rPr lang="en-US" altLang="ru-RU" sz="2800" b="1" dirty="0"/>
              <a:t>        </a:t>
            </a:r>
            <a:r>
              <a:rPr lang="en-US" altLang="ru-RU" sz="2800" b="1" dirty="0" err="1"/>
              <a:t>System.out.print</a:t>
            </a:r>
            <a:r>
              <a:rPr lang="en-US" altLang="ru-RU" sz="2800" b="1" dirty="0"/>
              <a:t>(</a:t>
            </a:r>
            <a:r>
              <a:rPr lang="en-US" altLang="ru-RU" sz="2800" b="1" dirty="0" err="1"/>
              <a:t>ob</a:t>
            </a:r>
            <a:r>
              <a:rPr lang="en-US" altLang="ru-RU" sz="2800" b="1" dirty="0"/>
              <a:t> </a:t>
            </a:r>
            <a:r>
              <a:rPr lang="en-US" altLang="ru-RU" sz="2800" b="1" dirty="0" err="1"/>
              <a:t>instanceof</a:t>
            </a:r>
            <a:r>
              <a:rPr lang="en-US" altLang="ru-RU" sz="2800" b="1" dirty="0"/>
              <a:t> </a:t>
            </a:r>
            <a:r>
              <a:rPr lang="en-US" altLang="ru-RU" sz="2800" b="1" dirty="0" err="1"/>
              <a:t>SortedSet</a:t>
            </a:r>
            <a:r>
              <a:rPr lang="en-US" altLang="ru-RU" sz="2800" b="1" dirty="0"/>
              <a:t>);</a:t>
            </a:r>
            <a:br>
              <a:rPr lang="en-US" altLang="ru-RU" sz="2800" b="1" dirty="0"/>
            </a:br>
            <a:r>
              <a:rPr lang="en-US" altLang="ru-RU" sz="2800" b="1" dirty="0"/>
              <a:t>    }</a:t>
            </a:r>
            <a:br>
              <a:rPr lang="en-US" altLang="ru-RU" sz="2800" b="1" dirty="0"/>
            </a:br>
            <a:r>
              <a:rPr lang="en-US" altLang="ru-RU" sz="2800" b="1" dirty="0"/>
              <a:t>}</a:t>
            </a:r>
            <a:r>
              <a:rPr lang="ru-RU" altLang="ru-RU" sz="2800" b="1" dirty="0"/>
              <a:t/>
            </a:r>
            <a:br>
              <a:rPr lang="ru-RU" altLang="ru-RU" sz="2800" b="1" dirty="0"/>
            </a:br>
            <a:r>
              <a:rPr lang="ru-RU" altLang="ru-RU" sz="2800" dirty="0"/>
              <a:t/>
            </a:r>
            <a:br>
              <a:rPr lang="ru-RU" altLang="ru-RU" sz="2800" dirty="0"/>
            </a:br>
            <a:endParaRPr lang="ru-RU" altLang="ru-RU" sz="28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3575050"/>
            <a:ext cx="8229600" cy="29845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Что будет выведено при попытке компиляции и запуска программы?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1) </a:t>
            </a:r>
            <a:r>
              <a:rPr lang="ru-RU" altLang="ru-RU" dirty="0" err="1"/>
              <a:t>true</a:t>
            </a:r>
            <a:r>
              <a:rPr lang="ru-RU" altLang="ru-RU" dirty="0"/>
              <a:t>, </a:t>
            </a:r>
            <a:r>
              <a:rPr lang="ru-RU" altLang="ru-RU" dirty="0" err="1"/>
              <a:t>false</a:t>
            </a:r>
            <a:r>
              <a:rPr lang="ru-RU" altLang="ru-RU" dirty="0"/>
              <a:t>;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2) </a:t>
            </a:r>
            <a:r>
              <a:rPr lang="ru-RU" altLang="ru-RU" dirty="0" err="1"/>
              <a:t>true</a:t>
            </a:r>
            <a:r>
              <a:rPr lang="ru-RU" altLang="ru-RU" dirty="0"/>
              <a:t>, </a:t>
            </a:r>
            <a:r>
              <a:rPr lang="ru-RU" altLang="ru-RU" dirty="0" err="1"/>
              <a:t>true</a:t>
            </a:r>
            <a:r>
              <a:rPr lang="ru-RU" altLang="ru-RU" dirty="0"/>
              <a:t>;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3) </a:t>
            </a:r>
            <a:r>
              <a:rPr lang="ru-RU" altLang="ru-RU" dirty="0" err="1"/>
              <a:t>false</a:t>
            </a:r>
            <a:r>
              <a:rPr lang="ru-RU" altLang="ru-RU" dirty="0"/>
              <a:t>, </a:t>
            </a:r>
            <a:r>
              <a:rPr lang="ru-RU" altLang="ru-RU" dirty="0" err="1"/>
              <a:t>true</a:t>
            </a:r>
            <a:r>
              <a:rPr lang="ru-RU" altLang="ru-RU" dirty="0"/>
              <a:t>;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4) </a:t>
            </a:r>
            <a:r>
              <a:rPr lang="ru-RU" altLang="ru-RU" dirty="0" err="1"/>
              <a:t>false</a:t>
            </a:r>
            <a:r>
              <a:rPr lang="ru-RU" altLang="ru-RU" dirty="0"/>
              <a:t>, </a:t>
            </a:r>
            <a:r>
              <a:rPr lang="ru-RU" altLang="ru-RU" dirty="0" err="1"/>
              <a:t>false</a:t>
            </a:r>
            <a:r>
              <a:rPr lang="ru-RU" altLang="ru-RU" dirty="0"/>
              <a:t>;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altLang="ru-RU" dirty="0"/>
              <a:t>5) ничего из перечисленного.</a:t>
            </a:r>
          </a:p>
          <a:p>
            <a:pPr eaLnBrk="1" hangingPunct="1">
              <a:lnSpc>
                <a:spcPct val="80000"/>
              </a:lnSpc>
              <a:defRPr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95931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ru-RU" sz="2400" b="1" dirty="0"/>
              <a:t>3</a:t>
            </a:r>
            <a:r>
              <a:rPr lang="ru-RU" altLang="ru-RU" sz="2400" b="1" dirty="0"/>
              <a:t>5. Какие из приведенных ниже названий являются именами интерфейсов пакета </a:t>
            </a:r>
            <a:r>
              <a:rPr lang="ru-RU" altLang="ru-RU" sz="2400" b="1" dirty="0" err="1"/>
              <a:t>java.util</a:t>
            </a:r>
            <a:r>
              <a:rPr lang="ru-RU" altLang="ru-RU" sz="2400" b="1" dirty="0"/>
              <a:t>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ru-RU" altLang="ru-RU" dirty="0"/>
              <a:t>1) </a:t>
            </a:r>
            <a:r>
              <a:rPr lang="ru-RU" altLang="ru-RU" dirty="0" err="1"/>
              <a:t>SortedMap</a:t>
            </a:r>
            <a:r>
              <a:rPr lang="ru-RU" altLang="ru-RU" dirty="0"/>
              <a:t>;</a:t>
            </a:r>
          </a:p>
          <a:p>
            <a:pPr marL="0" indent="0">
              <a:buNone/>
              <a:defRPr/>
            </a:pPr>
            <a:r>
              <a:rPr lang="ru-RU" altLang="ru-RU" dirty="0"/>
              <a:t>2) </a:t>
            </a:r>
            <a:r>
              <a:rPr lang="ru-RU" altLang="ru-RU" dirty="0" err="1"/>
              <a:t>HashMap</a:t>
            </a:r>
            <a:r>
              <a:rPr lang="ru-RU" altLang="ru-RU" dirty="0"/>
              <a:t>;</a:t>
            </a:r>
          </a:p>
          <a:p>
            <a:pPr marL="0" indent="0">
              <a:buNone/>
              <a:defRPr/>
            </a:pPr>
            <a:r>
              <a:rPr lang="ru-RU" altLang="ru-RU" dirty="0"/>
              <a:t>3) </a:t>
            </a:r>
            <a:r>
              <a:rPr lang="ru-RU" altLang="ru-RU" dirty="0" err="1"/>
              <a:t>HashSet</a:t>
            </a:r>
            <a:r>
              <a:rPr lang="ru-RU" altLang="ru-RU" dirty="0"/>
              <a:t>;</a:t>
            </a:r>
          </a:p>
          <a:p>
            <a:pPr marL="0" indent="0">
              <a:buNone/>
              <a:defRPr/>
            </a:pPr>
            <a:r>
              <a:rPr lang="ru-RU" altLang="ru-RU" dirty="0"/>
              <a:t>4) </a:t>
            </a:r>
            <a:r>
              <a:rPr lang="ru-RU" altLang="ru-RU" dirty="0" err="1"/>
              <a:t>SortedSet</a:t>
            </a:r>
            <a:r>
              <a:rPr lang="ru-RU" altLang="ru-RU" dirty="0"/>
              <a:t>;</a:t>
            </a:r>
          </a:p>
          <a:p>
            <a:pPr marL="0" indent="0">
              <a:buNone/>
              <a:defRPr/>
            </a:pPr>
            <a:r>
              <a:rPr lang="ru-RU" altLang="ru-RU" dirty="0"/>
              <a:t>5) </a:t>
            </a:r>
            <a:r>
              <a:rPr lang="ru-RU" altLang="ru-RU" dirty="0" err="1"/>
              <a:t>Stack</a:t>
            </a:r>
            <a:r>
              <a:rPr lang="ru-RU" altLang="ru-RU" dirty="0"/>
              <a:t>;</a:t>
            </a:r>
          </a:p>
          <a:p>
            <a:pPr marL="0" indent="0">
              <a:buNone/>
              <a:defRPr/>
            </a:pPr>
            <a:r>
              <a:rPr lang="ru-RU" altLang="ru-RU" dirty="0"/>
              <a:t>6) </a:t>
            </a:r>
            <a:r>
              <a:rPr lang="ru-RU" altLang="ru-RU" dirty="0" err="1"/>
              <a:t>AbstractMap</a:t>
            </a:r>
            <a:r>
              <a:rPr lang="ru-RU" altLang="ru-RU" dirty="0"/>
              <a:t>.</a:t>
            </a:r>
          </a:p>
          <a:p>
            <a:pPr eaLnBrk="1" hangingPunct="1">
              <a:defRPr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118693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9" y="620713"/>
            <a:ext cx="8785225" cy="13589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ru-RU" sz="2800" b="1" dirty="0">
                <a:latin typeface="+mn-lt"/>
              </a:rPr>
              <a:t>3</a:t>
            </a:r>
            <a:r>
              <a:rPr lang="ru-RU" altLang="ru-RU" sz="2800" b="1" dirty="0">
                <a:latin typeface="+mn-lt"/>
              </a:rPr>
              <a:t>6. </a:t>
            </a:r>
            <a:r>
              <a:rPr lang="ru-RU" altLang="ru-RU" sz="2800" dirty="0">
                <a:latin typeface="+mn-lt"/>
              </a:rPr>
              <a:t>Можно ли изменить корневой каталог, в который </a:t>
            </a:r>
            <a:br>
              <a:rPr lang="ru-RU" altLang="ru-RU" sz="2800" dirty="0">
                <a:latin typeface="+mn-lt"/>
              </a:rPr>
            </a:br>
            <a:r>
              <a:rPr lang="ru-RU" altLang="ru-RU" sz="2800" dirty="0">
                <a:latin typeface="+mn-lt"/>
              </a:rPr>
              <a:t>вкладываются все пользовательские каталоги,  </a:t>
            </a:r>
            <a:br>
              <a:rPr lang="ru-RU" altLang="ru-RU" sz="2800" dirty="0">
                <a:latin typeface="+mn-lt"/>
              </a:rPr>
            </a:br>
            <a:r>
              <a:rPr lang="ru-RU" altLang="ru-RU" sz="2800" dirty="0">
                <a:latin typeface="+mn-lt"/>
              </a:rPr>
              <a:t>используя объект </a:t>
            </a:r>
            <a:r>
              <a:rPr lang="ru-RU" altLang="ru-RU" sz="2800" b="1" dirty="0" err="1">
                <a:latin typeface="+mn-lt"/>
              </a:rPr>
              <a:t>myfile</a:t>
            </a:r>
            <a:r>
              <a:rPr lang="ru-RU" altLang="ru-RU" sz="2800" b="1" dirty="0">
                <a:latin typeface="+mn-lt"/>
              </a:rPr>
              <a:t> </a:t>
            </a:r>
            <a:r>
              <a:rPr lang="ru-RU" altLang="ru-RU" sz="2800" dirty="0">
                <a:latin typeface="+mn-lt"/>
              </a:rPr>
              <a:t>класса</a:t>
            </a:r>
            <a:r>
              <a:rPr lang="ru-RU" altLang="ru-RU" sz="2800" b="1" dirty="0">
                <a:latin typeface="+mn-lt"/>
              </a:rPr>
              <a:t> </a:t>
            </a:r>
            <a:r>
              <a:rPr lang="ru-RU" altLang="ru-RU" sz="2800" b="1" dirty="0" err="1">
                <a:latin typeface="+mn-lt"/>
              </a:rPr>
              <a:t>File</a:t>
            </a:r>
            <a:r>
              <a:rPr lang="ru-RU" altLang="ru-RU" sz="2800" b="1" dirty="0">
                <a:latin typeface="+mn-lt"/>
              </a:rPr>
              <a:t>? </a:t>
            </a:r>
            <a:r>
              <a:rPr lang="ru-RU" altLang="ru-RU" sz="2800" dirty="0">
                <a:latin typeface="+mn-lt"/>
              </a:rPr>
              <a:t>Если</a:t>
            </a:r>
            <a:r>
              <a:rPr lang="ru-RU" altLang="ru-RU" sz="2800" b="1" dirty="0">
                <a:latin typeface="+mn-lt"/>
              </a:rPr>
              <a:t> </a:t>
            </a:r>
            <a:r>
              <a:rPr lang="ru-RU" altLang="ru-RU" sz="2800" dirty="0">
                <a:latin typeface="+mn-lt"/>
              </a:rPr>
              <a:t>это возможно, то с помощью какой инструкции?</a:t>
            </a:r>
            <a:r>
              <a:rPr lang="ru-RU" altLang="ru-RU" sz="2400" dirty="0">
                <a:latin typeface="+mn-lt"/>
              </a:rPr>
              <a:t/>
            </a:r>
            <a:br>
              <a:rPr lang="ru-RU" altLang="ru-RU" sz="2400" dirty="0">
                <a:latin typeface="+mn-lt"/>
              </a:rPr>
            </a:br>
            <a:r>
              <a:rPr lang="ru-RU" altLang="ru-RU" sz="2400" b="1" dirty="0">
                <a:latin typeface="+mn-lt"/>
              </a:rPr>
              <a:t/>
            </a:r>
            <a:br>
              <a:rPr lang="ru-RU" altLang="ru-RU" sz="2400" b="1" dirty="0">
                <a:latin typeface="+mn-lt"/>
              </a:rPr>
            </a:br>
            <a:endParaRPr lang="ru-RU" altLang="ru-RU" sz="2400" b="1" dirty="0">
              <a:latin typeface="+mn-lt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2001839"/>
            <a:ext cx="8229600" cy="26638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ru-RU" dirty="0"/>
              <a:t>1) </a:t>
            </a:r>
            <a:r>
              <a:rPr lang="en-US" altLang="ru-RU" dirty="0" err="1"/>
              <a:t>myfile.chdir</a:t>
            </a:r>
            <a:r>
              <a:rPr lang="en-US" altLang="ru-RU" dirty="0"/>
              <a:t>("NAME");</a:t>
            </a:r>
          </a:p>
          <a:p>
            <a:pPr marL="0" indent="0">
              <a:buNone/>
              <a:defRPr/>
            </a:pPr>
            <a:r>
              <a:rPr lang="en-US" altLang="ru-RU" dirty="0"/>
              <a:t>2) myfile.cd("NAME");</a:t>
            </a:r>
          </a:p>
          <a:p>
            <a:pPr marL="0" indent="0">
              <a:buNone/>
              <a:defRPr/>
            </a:pPr>
            <a:r>
              <a:rPr lang="en-US" altLang="ru-RU" dirty="0"/>
              <a:t>3) </a:t>
            </a:r>
            <a:r>
              <a:rPr lang="en-US" altLang="ru-RU" dirty="0" err="1"/>
              <a:t>myfile.changeDir</a:t>
            </a:r>
            <a:r>
              <a:rPr lang="en-US" altLang="ru-RU" dirty="0"/>
              <a:t>("NAME");</a:t>
            </a:r>
          </a:p>
          <a:p>
            <a:pPr marL="0" indent="0">
              <a:buNone/>
              <a:defRPr/>
            </a:pPr>
            <a:r>
              <a:rPr lang="en-US" altLang="ru-RU" dirty="0"/>
              <a:t>4) </a:t>
            </a:r>
            <a:r>
              <a:rPr lang="ru-RU" altLang="ru-RU" dirty="0"/>
              <a:t>методы класса </a:t>
            </a:r>
            <a:r>
              <a:rPr lang="en-US" altLang="ru-RU" dirty="0"/>
              <a:t>File </a:t>
            </a:r>
            <a:r>
              <a:rPr lang="ru-RU" altLang="ru-RU" dirty="0"/>
              <a:t>не могут изменять корневой каталог.</a:t>
            </a:r>
          </a:p>
          <a:p>
            <a:pPr eaLnBrk="1" hangingPunct="1">
              <a:defRPr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1596966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37</a:t>
            </a:r>
            <a:r>
              <a:rPr lang="ru-RU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. Какой тип у возвращаемого значения метода </a:t>
            </a:r>
            <a:r>
              <a:rPr lang="en-US" altLang="ru-RU" sz="3000" b="1" dirty="0" err="1">
                <a:ea typeface="Verdana" panose="020B0604030504040204" pitchFamily="34" charset="0"/>
                <a:cs typeface="Verdana" panose="020B0604030504040204" pitchFamily="34" charset="0"/>
              </a:rPr>
              <a:t>hashCode</a:t>
            </a:r>
            <a:r>
              <a:rPr lang="ru-RU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() класса </a:t>
            </a:r>
            <a:r>
              <a:rPr lang="en-US" altLang="ru-RU" sz="3000" b="1" dirty="0" err="1">
                <a:ea typeface="Verdana" panose="020B0604030504040204" pitchFamily="34" charset="0"/>
                <a:cs typeface="Verdana" panose="020B0604030504040204" pitchFamily="34" charset="0"/>
              </a:rPr>
              <a:t>Obje</a:t>
            </a:r>
            <a:r>
              <a:rPr lang="ru-RU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с</a:t>
            </a:r>
            <a:r>
              <a:rPr lang="en-US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ru-RU" altLang="ru-RU" sz="3000" b="1" dirty="0"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ru-RU" altLang="ru-RU" sz="2400" b="1" dirty="0"/>
              <a:t/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10243" name="Rectangle 3"/>
          <p:cNvSpPr txBox="1">
            <a:spLocks noChangeArrowheads="1"/>
          </p:cNvSpPr>
          <p:nvPr/>
        </p:nvSpPr>
        <p:spPr bwMode="auto"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ru-RU" altLang="ru-RU"/>
              <a:t>String</a:t>
            </a:r>
          </a:p>
          <a:p>
            <a:pPr>
              <a:buFontTx/>
              <a:buAutoNum type="arabicParenR"/>
            </a:pPr>
            <a:r>
              <a:rPr lang="ru-RU" altLang="ru-RU"/>
              <a:t>int</a:t>
            </a:r>
          </a:p>
          <a:p>
            <a:pPr>
              <a:buFontTx/>
              <a:buAutoNum type="arabicParenR"/>
            </a:pPr>
            <a:r>
              <a:rPr lang="ru-RU" altLang="ru-RU"/>
              <a:t>long</a:t>
            </a:r>
          </a:p>
          <a:p>
            <a:pPr>
              <a:buFontTx/>
              <a:buAutoNum type="arabicParenR"/>
            </a:pPr>
            <a:r>
              <a:rPr lang="ru-RU" altLang="ru-RU"/>
              <a:t>Object</a:t>
            </a:r>
          </a:p>
          <a:p>
            <a:pPr>
              <a:buFontTx/>
              <a:buAutoNum type="arabicParenR"/>
            </a:pPr>
            <a:r>
              <a:rPr lang="ru-RU" altLang="ru-RU"/>
              <a:t>Class</a:t>
            </a:r>
          </a:p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69222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5889"/>
            <a:ext cx="8229600" cy="1081087"/>
          </a:xfrm>
        </p:spPr>
        <p:txBody>
          <a:bodyPr/>
          <a:lstStyle/>
          <a:p>
            <a:pPr algn="l" eaLnBrk="1" hangingPunct="1"/>
            <a:r>
              <a:rPr lang="en-US" altLang="ru-RU" sz="3000" b="1" dirty="0"/>
              <a:t>38</a:t>
            </a:r>
            <a:r>
              <a:rPr lang="ru-RU" altLang="ru-RU" sz="3000" b="1" dirty="0"/>
              <a:t>. Какое утверждение верно?</a:t>
            </a:r>
            <a:r>
              <a:rPr lang="ru-RU" altLang="ru-RU" sz="3200" b="1" dirty="0"/>
              <a:t/>
            </a:r>
            <a:br>
              <a:rPr lang="ru-RU" altLang="ru-RU" sz="3200" b="1" dirty="0"/>
            </a:br>
            <a:endParaRPr lang="ru-RU" altLang="ru-RU" sz="3200" b="1" dirty="0"/>
          </a:p>
        </p:txBody>
      </p:sp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1524000" y="765175"/>
            <a:ext cx="9144000" cy="536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ru-RU" altLang="ru-RU" sz="3000"/>
              <a:t>Если ссылки х и у указывают на разные объекты, то значением выражения</a:t>
            </a:r>
            <a:br>
              <a:rPr lang="ru-RU" altLang="ru-RU" sz="3000"/>
            </a:br>
            <a:r>
              <a:rPr lang="ru-RU" altLang="ru-RU" sz="3000"/>
              <a:t>x.equals(y) всегда будет false.</a:t>
            </a:r>
          </a:p>
          <a:p>
            <a:pPr>
              <a:buFontTx/>
              <a:buAutoNum type="arabicParenR"/>
            </a:pPr>
            <a:r>
              <a:rPr lang="ru-RU" altLang="ru-RU" sz="3000"/>
              <a:t>Если ссылки х и у указывают на разные объекты, то значением выражения</a:t>
            </a:r>
            <a:br>
              <a:rPr lang="ru-RU" altLang="ru-RU" sz="3000"/>
            </a:br>
            <a:r>
              <a:rPr lang="ru-RU" altLang="ru-RU" sz="3000"/>
              <a:t>(х.hashCode() == у.hashCode()) всегда будет false.</a:t>
            </a:r>
          </a:p>
          <a:p>
            <a:pPr>
              <a:buFontTx/>
              <a:buAutoNum type="arabicParenR"/>
            </a:pPr>
            <a:r>
              <a:rPr lang="ru-RU" altLang="ru-RU" sz="3000"/>
              <a:t>Метод hashCode() в классе Object объявлен как final.</a:t>
            </a:r>
          </a:p>
          <a:p>
            <a:pPr>
              <a:buFontTx/>
              <a:buAutoNum type="arabicParenR"/>
            </a:pPr>
            <a:r>
              <a:rPr lang="ru-RU" altLang="ru-RU" sz="3000"/>
              <a:t>Метод equals() в классе Object объявлен как final.</a:t>
            </a:r>
          </a:p>
          <a:p>
            <a:pPr>
              <a:buFontTx/>
              <a:buAutoNum type="arabicParenR"/>
            </a:pPr>
            <a:r>
              <a:rPr lang="ru-RU" altLang="ru-RU" sz="3000"/>
              <a:t>Все массивы имеют метод с именем clone.</a:t>
            </a:r>
          </a:p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092498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7076" y="188913"/>
            <a:ext cx="9703724" cy="1008062"/>
          </a:xfrm>
        </p:spPr>
        <p:txBody>
          <a:bodyPr/>
          <a:lstStyle/>
          <a:p>
            <a:pPr algn="l" eaLnBrk="1" hangingPunct="1"/>
            <a:r>
              <a:rPr lang="en-US" altLang="ru-RU" sz="3000" b="1" dirty="0"/>
              <a:t>39</a:t>
            </a:r>
            <a:r>
              <a:rPr lang="ru-RU" altLang="ru-RU" sz="3000" b="1" dirty="0"/>
              <a:t>. Что из нижеследующего есть класс-оболочка?</a:t>
            </a:r>
            <a:r>
              <a:rPr lang="ru-RU" altLang="ru-RU" sz="3200" b="1" dirty="0"/>
              <a:t/>
            </a:r>
            <a:br>
              <a:rPr lang="ru-RU" altLang="ru-RU" sz="3200" b="1" dirty="0"/>
            </a:br>
            <a:endParaRPr lang="ru-RU" altLang="ru-RU" sz="3200" b="1" dirty="0"/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133004" y="994093"/>
            <a:ext cx="11770821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168400" indent="-8064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en-US" altLang="ru-RU" sz="2800" dirty="0"/>
              <a:t>java</a:t>
            </a:r>
            <a:r>
              <a:rPr lang="ru-RU" altLang="ru-RU" sz="2800" dirty="0"/>
              <a:t>.</a:t>
            </a:r>
            <a:r>
              <a:rPr lang="en-US" altLang="ru-RU" sz="2800" dirty="0" err="1"/>
              <a:t>lang</a:t>
            </a:r>
            <a:r>
              <a:rPr lang="ru-RU" altLang="ru-RU" sz="2800" dirty="0"/>
              <a:t>.</a:t>
            </a:r>
            <a:r>
              <a:rPr lang="en-US" altLang="ru-RU" sz="2800" dirty="0"/>
              <a:t>Void</a:t>
            </a:r>
            <a:endParaRPr lang="ru-RU" altLang="ru-RU" sz="2800" dirty="0"/>
          </a:p>
          <a:p>
            <a:pPr>
              <a:buFontTx/>
              <a:buAutoNum type="arabicParenR"/>
            </a:pPr>
            <a:r>
              <a:rPr lang="en-US" altLang="ru-RU" sz="2800" dirty="0" err="1"/>
              <a:t>java.lang.Int</a:t>
            </a:r>
            <a:endParaRPr lang="ru-RU" altLang="ru-RU" sz="2800" dirty="0"/>
          </a:p>
          <a:p>
            <a:pPr>
              <a:buFontTx/>
              <a:buAutoNum type="arabicParenR"/>
            </a:pPr>
            <a:r>
              <a:rPr lang="en-US" altLang="ru-RU" sz="2800" dirty="0" err="1"/>
              <a:t>java.lang.Boolean</a:t>
            </a:r>
            <a:endParaRPr lang="en-US" altLang="ru-RU" sz="2800" dirty="0"/>
          </a:p>
          <a:p>
            <a:pPr>
              <a:buFontTx/>
              <a:buAutoNum type="arabicParenR"/>
            </a:pPr>
            <a:r>
              <a:rPr lang="en-US" altLang="ru-RU" sz="2800" dirty="0" err="1"/>
              <a:t>java.lang.Long</a:t>
            </a:r>
            <a:endParaRPr lang="ru-RU" altLang="ru-RU" sz="2800" dirty="0"/>
          </a:p>
          <a:p>
            <a:pPr>
              <a:buFontTx/>
              <a:buAutoNum type="arabicParenR"/>
            </a:pPr>
            <a:r>
              <a:rPr lang="en-US" altLang="ru-RU" sz="2800" dirty="0" err="1"/>
              <a:t>java.lang.String</a:t>
            </a:r>
            <a:endParaRPr lang="ru-RU" altLang="ru-RU" sz="2800" dirty="0"/>
          </a:p>
          <a:p>
            <a:pPr eaLnBrk="1" hangingPunct="1"/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904236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255" y="188913"/>
            <a:ext cx="11895512" cy="1008062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ru-RU" sz="2600" b="1" dirty="0"/>
              <a:t>40</a:t>
            </a:r>
            <a:r>
              <a:rPr lang="ru-RU" altLang="ru-RU" sz="2600" b="1" dirty="0"/>
              <a:t>. Какой класс из ниже</a:t>
            </a:r>
            <a:r>
              <a:rPr lang="en-US" altLang="ru-RU" sz="2600" b="1" dirty="0"/>
              <a:t> </a:t>
            </a:r>
            <a:r>
              <a:rPr lang="ru-RU" altLang="ru-RU" sz="2600" b="1" dirty="0"/>
              <a:t>следующих не расширяет класс </a:t>
            </a:r>
            <a:r>
              <a:rPr lang="ru-RU" altLang="ru-RU" sz="2600" b="1" dirty="0" err="1"/>
              <a:t>java.lang.Number</a:t>
            </a:r>
            <a:r>
              <a:rPr lang="ru-RU" altLang="ru-RU" sz="2600" b="1" dirty="0"/>
              <a:t>?</a:t>
            </a:r>
            <a:br>
              <a:rPr lang="ru-RU" altLang="ru-RU" sz="2600" b="1" dirty="0"/>
            </a:br>
            <a:endParaRPr lang="ru-RU" altLang="ru-RU" sz="2600" b="1" dirty="0"/>
          </a:p>
        </p:txBody>
      </p:sp>
      <p:sp>
        <p:nvSpPr>
          <p:cNvPr id="13315" name="Rectangle 3"/>
          <p:cNvSpPr txBox="1">
            <a:spLocks noChangeArrowheads="1"/>
          </p:cNvSpPr>
          <p:nvPr/>
        </p:nvSpPr>
        <p:spPr bwMode="auto">
          <a:xfrm>
            <a:off x="299257" y="1196975"/>
            <a:ext cx="11671069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563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en-US" altLang="ru-RU" sz="2600" dirty="0"/>
              <a:t>java</a:t>
            </a:r>
            <a:r>
              <a:rPr lang="ru-RU" altLang="ru-RU" sz="2600" dirty="0"/>
              <a:t>.</a:t>
            </a:r>
            <a:r>
              <a:rPr lang="en-US" altLang="ru-RU" sz="2600" dirty="0" err="1"/>
              <a:t>lang</a:t>
            </a:r>
            <a:r>
              <a:rPr lang="ru-RU" altLang="ru-RU" sz="2600" dirty="0"/>
              <a:t>.</a:t>
            </a:r>
            <a:r>
              <a:rPr lang="en-US" altLang="ru-RU" sz="2600" dirty="0"/>
              <a:t>Float</a:t>
            </a:r>
            <a:endParaRPr lang="ru-RU" altLang="ru-RU" sz="2600" dirty="0"/>
          </a:p>
          <a:p>
            <a:pPr>
              <a:buFontTx/>
              <a:buAutoNum type="arabicParenR"/>
            </a:pPr>
            <a:r>
              <a:rPr lang="en-US" altLang="ru-RU" sz="2600" dirty="0"/>
              <a:t>java</a:t>
            </a:r>
            <a:r>
              <a:rPr lang="ru-RU" altLang="ru-RU" sz="2600" dirty="0"/>
              <a:t>.</a:t>
            </a:r>
            <a:r>
              <a:rPr lang="en-US" altLang="ru-RU" sz="2600" dirty="0" err="1"/>
              <a:t>lang</a:t>
            </a:r>
            <a:r>
              <a:rPr lang="ru-RU" altLang="ru-RU" sz="2600" dirty="0"/>
              <a:t>.</a:t>
            </a:r>
            <a:r>
              <a:rPr lang="en-US" altLang="ru-RU" sz="2600" dirty="0"/>
              <a:t>Byte</a:t>
            </a:r>
            <a:endParaRPr lang="ru-RU" altLang="ru-RU" sz="2600" dirty="0"/>
          </a:p>
          <a:p>
            <a:pPr>
              <a:buFontTx/>
              <a:buAutoNum type="arabicParenR"/>
            </a:pPr>
            <a:r>
              <a:rPr lang="en-US" altLang="ru-RU" sz="2600" dirty="0" err="1"/>
              <a:t>java.lang.Character</a:t>
            </a:r>
            <a:endParaRPr lang="en-US" altLang="ru-RU" sz="2600" dirty="0"/>
          </a:p>
          <a:p>
            <a:pPr>
              <a:buFontTx/>
              <a:buAutoNum type="arabicParenR"/>
            </a:pPr>
            <a:r>
              <a:rPr lang="en-US" altLang="ru-RU" sz="2600" dirty="0" err="1"/>
              <a:t>java.lang.Boolean</a:t>
            </a:r>
            <a:endParaRPr lang="en-US" altLang="ru-RU" sz="2600" dirty="0"/>
          </a:p>
          <a:p>
            <a:pPr>
              <a:buFontTx/>
              <a:buAutoNum type="arabicParenR"/>
            </a:pPr>
            <a:r>
              <a:rPr lang="en-US" altLang="ru-RU" sz="2600" dirty="0" err="1"/>
              <a:t>java.lang.Short</a:t>
            </a:r>
            <a:endParaRPr lang="ru-RU" altLang="ru-RU" sz="2600" dirty="0"/>
          </a:p>
          <a:p>
            <a:pPr eaLnBrk="1" hangingPunct="1"/>
            <a:endParaRPr lang="ru-RU" altLang="ru-RU" sz="2600" dirty="0"/>
          </a:p>
        </p:txBody>
      </p:sp>
    </p:spTree>
    <p:extLst>
      <p:ext uri="{BB962C8B-B14F-4D97-AF65-F5344CB8AC3E}">
        <p14:creationId xmlns:p14="http://schemas.microsoft.com/office/powerpoint/2010/main" val="1074560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82" y="188913"/>
            <a:ext cx="9961418" cy="1008062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ru-RU" sz="3000" b="1" dirty="0"/>
              <a:t>41</a:t>
            </a:r>
            <a:r>
              <a:rPr lang="ru-RU" altLang="ru-RU" sz="3000" b="1" dirty="0"/>
              <a:t>. Какая строка следующего кода выведет в точности 11?</a:t>
            </a:r>
            <a:r>
              <a:rPr lang="ru-RU" altLang="ru-RU" sz="3200" b="1" dirty="0"/>
              <a:t/>
            </a:r>
            <a:br>
              <a:rPr lang="ru-RU" altLang="ru-RU" sz="3200" b="1" dirty="0"/>
            </a:br>
            <a:endParaRPr lang="ru-RU" altLang="ru-RU" sz="32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887" y="1196975"/>
            <a:ext cx="11513128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dirty="0"/>
              <a:t>class </a:t>
            </a:r>
            <a:r>
              <a:rPr lang="en-US" dirty="0" err="1"/>
              <a:t>MyClass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  <a:defRPr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marL="0" indent="0">
              <a:buNone/>
              <a:defRPr/>
            </a:pPr>
            <a:r>
              <a:rPr lang="en-US" dirty="0"/>
              <a:t>double v = 10.5;</a:t>
            </a:r>
            <a:endParaRPr lang="ru-RU" dirty="0"/>
          </a:p>
          <a:p>
            <a:pPr marL="0" indent="0"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Math.ceil</a:t>
            </a:r>
            <a:r>
              <a:rPr lang="en-US" dirty="0"/>
              <a:t>(v)); // (1) </a:t>
            </a:r>
          </a:p>
          <a:p>
            <a:pPr marL="0" indent="0"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Math.round</a:t>
            </a:r>
            <a:r>
              <a:rPr lang="en-US" dirty="0"/>
              <a:t>(v)); // (2)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Math.floor</a:t>
            </a:r>
            <a:r>
              <a:rPr lang="en-US" dirty="0"/>
              <a:t>(v)); // (3) </a:t>
            </a:r>
          </a:p>
          <a:p>
            <a:pPr marL="0" indent="0"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((</a:t>
            </a:r>
            <a:r>
              <a:rPr lang="en-US" dirty="0" err="1"/>
              <a:t>int</a:t>
            </a:r>
            <a:r>
              <a:rPr lang="en-US" dirty="0"/>
              <a:t>)</a:t>
            </a:r>
            <a:r>
              <a:rPr lang="en-US" dirty="0" err="1"/>
              <a:t>Math.ceil</a:t>
            </a:r>
            <a:r>
              <a:rPr lang="en-US" dirty="0"/>
              <a:t>(v)); // (4) </a:t>
            </a:r>
          </a:p>
          <a:p>
            <a:pPr marL="0" indent="0"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((</a:t>
            </a:r>
            <a:r>
              <a:rPr lang="en-US" dirty="0" err="1"/>
              <a:t>int</a:t>
            </a:r>
            <a:r>
              <a:rPr lang="en-US" dirty="0"/>
              <a:t>)</a:t>
            </a:r>
            <a:r>
              <a:rPr lang="en-US" dirty="0" err="1"/>
              <a:t>Math.floor</a:t>
            </a:r>
            <a:r>
              <a:rPr lang="en-US" dirty="0"/>
              <a:t>(v)); // (5) </a:t>
            </a:r>
            <a:endParaRPr lang="ru-RU" dirty="0"/>
          </a:p>
          <a:p>
            <a:pPr marL="0" indent="0">
              <a:buNone/>
              <a:defRPr/>
            </a:pPr>
            <a:r>
              <a:rPr lang="ru-RU" dirty="0"/>
              <a:t>} }</a:t>
            </a:r>
          </a:p>
          <a:p>
            <a:pPr marL="0" indent="0" eaLnBrk="1" hangingPunct="1">
              <a:buNone/>
              <a:defRPr/>
            </a:pPr>
            <a:endParaRPr lang="ru-RU" altLang="ru-RU" kern="0" dirty="0"/>
          </a:p>
        </p:txBody>
      </p:sp>
    </p:spTree>
    <p:extLst>
      <p:ext uri="{BB962C8B-B14F-4D97-AF65-F5344CB8AC3E}">
        <p14:creationId xmlns:p14="http://schemas.microsoft.com/office/powerpoint/2010/main" val="3929791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4833" y="974361"/>
            <a:ext cx="11512446" cy="5080365"/>
          </a:xfrm>
        </p:spPr>
        <p:txBody>
          <a:bodyPr>
            <a:noAutofit/>
          </a:bodyPr>
          <a:lstStyle/>
          <a:p>
            <a:pPr algn="l"/>
            <a:r>
              <a:rPr lang="en-US" altLang="ru-RU" sz="2800" b="1" dirty="0"/>
              <a:t>42</a:t>
            </a:r>
            <a:r>
              <a:rPr lang="ru-RU" altLang="ru-RU" sz="2800" b="1" dirty="0"/>
              <a:t>. В приведенных ниже парах объявлений методов какие операторы верны?</a:t>
            </a:r>
            <a:br>
              <a:rPr lang="ru-RU" altLang="ru-RU" sz="2800" b="1" dirty="0"/>
            </a:br>
            <a:r>
              <a:rPr lang="ru-RU" altLang="ru-RU" sz="2800" b="1" dirty="0"/>
              <a:t/>
            </a:r>
            <a:br>
              <a:rPr lang="ru-RU" altLang="ru-RU" sz="2800" b="1" dirty="0"/>
            </a:br>
            <a:r>
              <a:rPr lang="en-US" altLang="ru-RU" sz="2800" dirty="0"/>
              <a:t>void fly(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distance) {}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 err="1"/>
              <a:t>int</a:t>
            </a:r>
            <a:r>
              <a:rPr lang="en-US" altLang="ru-RU" sz="2800" dirty="0"/>
              <a:t> fly(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time, 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speed) {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return time*speed;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}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void fall(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time) {}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 err="1"/>
              <a:t>int</a:t>
            </a:r>
            <a:r>
              <a:rPr lang="en-US" altLang="ru-RU" sz="2800" dirty="0"/>
              <a:t> fall(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distance) {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return distance;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}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void glide(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time) {}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en-US" altLang="ru-RU" sz="2800" dirty="0"/>
              <a:t>void Glide(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time) {}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ru-RU" altLang="ru-RU" sz="2800" b="1" dirty="0"/>
              <a:t/>
            </a:r>
            <a:br>
              <a:rPr lang="ru-RU" altLang="ru-RU" sz="2800" b="1" dirty="0"/>
            </a:br>
            <a:endParaRPr lang="ru-RU" altLang="ru-RU" sz="28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15364" name="Прямоугольник 1"/>
          <p:cNvSpPr>
            <a:spLocks noChangeArrowheads="1"/>
          </p:cNvSpPr>
          <p:nvPr/>
        </p:nvSpPr>
        <p:spPr bwMode="auto">
          <a:xfrm>
            <a:off x="3972393" y="1341439"/>
            <a:ext cx="7794886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98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Выберите два правильных ответа.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пара методов скомпилируется корректно, и перегружается метод 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Вторая пара методов скомпилируется корректно, и перегружается метод 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Третья пара методов скомпилируется корректно, и перегружается метод 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glide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Вторая пара методов не скомпилируется корректно.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Третья пара методов не скомпилируется корректно.</a:t>
            </a:r>
            <a:endParaRPr lang="ru-RU" alt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14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16387" name="Заголовок 2"/>
          <p:cNvSpPr>
            <a:spLocks noGrp="1"/>
          </p:cNvSpPr>
          <p:nvPr>
            <p:ph type="title"/>
          </p:nvPr>
        </p:nvSpPr>
        <p:spPr>
          <a:xfrm>
            <a:off x="1666875" y="115888"/>
            <a:ext cx="885825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ru-RU" sz="2800" b="1" dirty="0"/>
              <a:t>43. </a:t>
            </a:r>
            <a:r>
              <a:rPr lang="ru-RU" altLang="ru-RU" sz="2800" b="1" dirty="0"/>
              <a:t>Имеется класс с именем </a:t>
            </a:r>
            <a:r>
              <a:rPr lang="en-US" altLang="ru-RU" sz="2800" b="1" dirty="0"/>
              <a:t>Book</a:t>
            </a:r>
            <a:r>
              <a:rPr lang="ru-RU" altLang="ru-RU" sz="2800" b="1" dirty="0"/>
              <a:t>, какое из представленных объявлений конструкторов допустимо</a:t>
            </a:r>
            <a:r>
              <a:rPr lang="en-US" altLang="ru-RU" sz="2800" b="1" dirty="0"/>
              <a:t> </a:t>
            </a:r>
            <a:r>
              <a:rPr lang="ru-RU" altLang="ru-RU" sz="2800" b="1" dirty="0"/>
              <a:t>для класса?</a:t>
            </a:r>
          </a:p>
        </p:txBody>
      </p:sp>
      <p:sp>
        <p:nvSpPr>
          <p:cNvPr id="16388" name="Прямоугольник 3"/>
          <p:cNvSpPr>
            <a:spLocks noChangeArrowheads="1"/>
          </p:cNvSpPr>
          <p:nvPr/>
        </p:nvSpPr>
        <p:spPr bwMode="auto">
          <a:xfrm>
            <a:off x="1666875" y="1473201"/>
            <a:ext cx="88582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b</a:t>
            </a: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Book()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final Book()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Book()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Book(String[] args)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Book</a:t>
            </a: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{}.</a:t>
            </a:r>
            <a:endParaRPr lang="ru-RU" alt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270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17411" name="Заголовок 2"/>
          <p:cNvSpPr>
            <a:spLocks noGrp="1"/>
          </p:cNvSpPr>
          <p:nvPr>
            <p:ph type="title"/>
          </p:nvPr>
        </p:nvSpPr>
        <p:spPr>
          <a:xfrm>
            <a:off x="1666875" y="115889"/>
            <a:ext cx="8858250" cy="504825"/>
          </a:xfrm>
        </p:spPr>
        <p:txBody>
          <a:bodyPr/>
          <a:lstStyle/>
          <a:p>
            <a:pPr algn="l"/>
            <a:r>
              <a:rPr lang="en-US" altLang="ru-RU" sz="2800" b="1" dirty="0"/>
              <a:t>44. </a:t>
            </a:r>
            <a:r>
              <a:rPr lang="ru-RU" altLang="ru-RU" sz="2800" b="1" dirty="0"/>
              <a:t>Какое утверждение верно?</a:t>
            </a:r>
          </a:p>
        </p:txBody>
      </p:sp>
      <p:sp>
        <p:nvSpPr>
          <p:cNvPr id="17412" name="Прямоугольник 3"/>
          <p:cNvSpPr>
            <a:spLocks noChangeArrowheads="1"/>
          </p:cNvSpPr>
          <p:nvPr/>
        </p:nvSpPr>
        <p:spPr bwMode="auto">
          <a:xfrm>
            <a:off x="1666875" y="854075"/>
            <a:ext cx="885825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800"/>
              <a:t>Выберите два правильных ответа.</a:t>
            </a:r>
            <a:endParaRPr lang="en-US" altLang="ru-RU" sz="28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классы должны определять конструктор.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можно объявить как private.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может вернуть значение.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должен проинициализировать все поля в классе.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ru-RU" altLang="ru-RU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может получить доступ к нестатическим членам класса.</a:t>
            </a:r>
          </a:p>
        </p:txBody>
      </p:sp>
    </p:spTree>
    <p:extLst>
      <p:ext uri="{BB962C8B-B14F-4D97-AF65-F5344CB8AC3E}">
        <p14:creationId xmlns:p14="http://schemas.microsoft.com/office/powerpoint/2010/main" val="4054203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18435" name="Заголовок 2"/>
          <p:cNvSpPr>
            <a:spLocks noGrp="1"/>
          </p:cNvSpPr>
          <p:nvPr>
            <p:ph type="title"/>
          </p:nvPr>
        </p:nvSpPr>
        <p:spPr>
          <a:xfrm>
            <a:off x="1666875" y="115889"/>
            <a:ext cx="8858250" cy="50482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ru-RU" sz="2400" b="1" dirty="0"/>
              <a:t>45. </a:t>
            </a:r>
            <a:r>
              <a:rPr lang="ru-RU" altLang="ru-RU" sz="2400" b="1" dirty="0"/>
              <a:t>Что получится в результате попытки скомпилировать следующую программу?</a:t>
            </a:r>
          </a:p>
        </p:txBody>
      </p:sp>
      <p:sp>
        <p:nvSpPr>
          <p:cNvPr id="18436" name="Прямоугольник 1"/>
          <p:cNvSpPr>
            <a:spLocks noChangeArrowheads="1"/>
          </p:cNvSpPr>
          <p:nvPr/>
        </p:nvSpPr>
        <p:spPr bwMode="auto">
          <a:xfrm>
            <a:off x="1692275" y="908051"/>
            <a:ext cx="8364538" cy="631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public class </a:t>
            </a:r>
            <a:r>
              <a:rPr lang="en-US" altLang="ru-RU" sz="2000" dirty="0" err="1"/>
              <a:t>MyClass</a:t>
            </a:r>
            <a:r>
              <a:rPr lang="en-US" altLang="ru-RU" sz="2000" dirty="0"/>
              <a:t>  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    long </a:t>
            </a:r>
            <a:r>
              <a:rPr lang="en-US" altLang="ru-RU" sz="2000" dirty="0" err="1"/>
              <a:t>var</a:t>
            </a:r>
            <a:r>
              <a:rPr lang="en-US" altLang="ru-RU" sz="20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ru-RU" sz="20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public void </a:t>
            </a:r>
            <a:r>
              <a:rPr lang="en-US" altLang="ru-RU" sz="2000" dirty="0" err="1"/>
              <a:t>MyClass</a:t>
            </a:r>
            <a:r>
              <a:rPr lang="en-US" altLang="ru-RU" sz="2000" dirty="0"/>
              <a:t> (long </a:t>
            </a:r>
            <a:r>
              <a:rPr lang="en-US" altLang="ru-RU" sz="2000" dirty="0" err="1"/>
              <a:t>param</a:t>
            </a:r>
            <a:r>
              <a:rPr lang="en-US" altLang="ru-RU" sz="2000" dirty="0"/>
              <a:t>)   { </a:t>
            </a:r>
            <a:r>
              <a:rPr lang="en-US" altLang="ru-RU" sz="2000" dirty="0" err="1"/>
              <a:t>var</a:t>
            </a:r>
            <a:r>
              <a:rPr lang="en-US" altLang="ru-RU" sz="2000" dirty="0"/>
              <a:t> = </a:t>
            </a:r>
            <a:r>
              <a:rPr lang="en-US" altLang="ru-RU" sz="2000" dirty="0" err="1"/>
              <a:t>param</a:t>
            </a:r>
            <a:r>
              <a:rPr lang="en-US" altLang="ru-RU" sz="2000" dirty="0"/>
              <a:t>;   } // (1)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public static void main(String[] </a:t>
            </a:r>
            <a:r>
              <a:rPr lang="en-US" altLang="ru-RU" sz="2000" dirty="0" err="1"/>
              <a:t>args</a:t>
            </a:r>
            <a:r>
              <a:rPr lang="en-US" altLang="ru-RU" sz="2000" dirty="0"/>
              <a:t>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 err="1"/>
              <a:t>MyClass</a:t>
            </a:r>
            <a:r>
              <a:rPr lang="en-US" altLang="ru-RU" sz="2000" dirty="0"/>
              <a:t> a,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a = new </a:t>
            </a:r>
            <a:r>
              <a:rPr lang="en-US" altLang="ru-RU" sz="2000" dirty="0" err="1"/>
              <a:t>MyClass</a:t>
            </a:r>
            <a:r>
              <a:rPr lang="en-US" altLang="ru-RU" sz="2000" dirty="0"/>
              <a:t>();	// (2)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b = new </a:t>
            </a:r>
            <a:r>
              <a:rPr lang="en-US" altLang="ru-RU" sz="2000" dirty="0" err="1"/>
              <a:t>MyClass</a:t>
            </a:r>
            <a:r>
              <a:rPr lang="en-US" altLang="ru-RU" sz="2000" dirty="0"/>
              <a:t>(5);	// (3)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000" dirty="0"/>
              <a:t>}}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ru-RU" sz="2000" dirty="0"/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000" dirty="0"/>
              <a:t>а)</a:t>
            </a:r>
            <a:r>
              <a:rPr lang="en-US" altLang="ru-RU" sz="2000" dirty="0"/>
              <a:t> </a:t>
            </a:r>
            <a:r>
              <a:rPr lang="ru-RU" altLang="ru-RU" sz="2000" dirty="0"/>
              <a:t>На этапе компиляции в строке (1) произойдет ошибка, так как в конструкторе</a:t>
            </a:r>
            <a:r>
              <a:rPr lang="en-US" altLang="ru-RU" sz="2000" dirty="0"/>
              <a:t> </a:t>
            </a:r>
            <a:r>
              <a:rPr lang="ru-RU" altLang="ru-RU" sz="2000" dirty="0"/>
              <a:t>не задается возвращаемое значение.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000" dirty="0"/>
              <a:t>б)</a:t>
            </a:r>
            <a:r>
              <a:rPr lang="en-US" altLang="ru-RU" sz="2000" dirty="0"/>
              <a:t> </a:t>
            </a:r>
            <a:r>
              <a:rPr lang="ru-RU" altLang="ru-RU" sz="2000" dirty="0"/>
              <a:t>На этапе компиляции в строке (2) произойдет ошибка, так как класс не содержит</a:t>
            </a:r>
            <a:r>
              <a:rPr lang="en-US" altLang="ru-RU" sz="2000" dirty="0"/>
              <a:t> </a:t>
            </a:r>
            <a:r>
              <a:rPr lang="ru-RU" altLang="ru-RU" sz="2000" dirty="0"/>
              <a:t>конструктора по умолчанию.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000" dirty="0"/>
              <a:t>в)</a:t>
            </a:r>
            <a:r>
              <a:rPr lang="en-US" altLang="ru-RU" sz="2000" dirty="0"/>
              <a:t> </a:t>
            </a:r>
            <a:r>
              <a:rPr lang="ru-RU" altLang="ru-RU" sz="2000" dirty="0"/>
              <a:t>На этапе компиляции в строке (3) произойдет ошибка, так как класс не содержит конструктора, который получает в качестве параметра один аргумент типа </a:t>
            </a:r>
            <a:r>
              <a:rPr lang="en-US" altLang="ru-RU" sz="2000" dirty="0" err="1"/>
              <a:t>int</a:t>
            </a:r>
            <a:r>
              <a:rPr lang="ru-RU" altLang="ru-RU" sz="2000" dirty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000" dirty="0"/>
              <a:t>г)</a:t>
            </a:r>
            <a:r>
              <a:rPr lang="en-US" altLang="ru-RU" sz="2000" dirty="0"/>
              <a:t> </a:t>
            </a:r>
            <a:r>
              <a:rPr lang="ru-RU" altLang="ru-RU" sz="2000" dirty="0"/>
              <a:t>Программа скомпилируется успешно.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452785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19459" name="Заголовок 2"/>
          <p:cNvSpPr>
            <a:spLocks noGrp="1"/>
          </p:cNvSpPr>
          <p:nvPr>
            <p:ph type="title"/>
          </p:nvPr>
        </p:nvSpPr>
        <p:spPr>
          <a:xfrm>
            <a:off x="1682750" y="404814"/>
            <a:ext cx="8858250" cy="503237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ru-RU" sz="2400" b="1" dirty="0"/>
              <a:t>46. </a:t>
            </a:r>
            <a:r>
              <a:rPr lang="ru-RU" altLang="ru-RU" sz="2400" b="1" dirty="0"/>
              <a:t>По предложенному ниже определению класса скажите, какие поля доступны извне пакета </a:t>
            </a:r>
            <a:r>
              <a:rPr lang="ru-RU" altLang="ru-RU" sz="2400" b="1" dirty="0" err="1"/>
              <a:t>com.corporation</a:t>
            </a:r>
            <a:r>
              <a:rPr lang="en-US" altLang="ru-RU" sz="2400" b="1" dirty="0"/>
              <a:t>.</a:t>
            </a:r>
            <a:r>
              <a:rPr lang="ru-RU" altLang="ru-RU" sz="2400" b="1" dirty="0" err="1"/>
              <a:t>project</a:t>
            </a:r>
            <a:r>
              <a:rPr lang="ru-RU" altLang="ru-RU" sz="2400" b="1" dirty="0"/>
              <a:t>?</a:t>
            </a:r>
          </a:p>
        </p:txBody>
      </p:sp>
      <p:sp>
        <p:nvSpPr>
          <p:cNvPr id="19460" name="Прямоугольник 1"/>
          <p:cNvSpPr>
            <a:spLocks noChangeArrowheads="1"/>
          </p:cNvSpPr>
          <p:nvPr/>
        </p:nvSpPr>
        <p:spPr bwMode="auto">
          <a:xfrm>
            <a:off x="1682750" y="1268414"/>
            <a:ext cx="83645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ru-RU" sz="2000"/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/>
          </a:p>
        </p:txBody>
      </p:sp>
      <p:sp>
        <p:nvSpPr>
          <p:cNvPr id="4" name="Прямоугольник 3"/>
          <p:cNvSpPr/>
          <p:nvPr/>
        </p:nvSpPr>
        <p:spPr>
          <a:xfrm>
            <a:off x="1682750" y="1382713"/>
            <a:ext cx="8858250" cy="58785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package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com.corporation.project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;</a:t>
            </a:r>
            <a:endParaRPr lang="ru-RU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public class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MyClass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 {</a:t>
            </a:r>
            <a:endParaRPr lang="ru-RU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int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i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;</a:t>
            </a:r>
            <a:endParaRPr lang="ru-RU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public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int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j;</a:t>
            </a:r>
            <a:endParaRPr lang="ru-RU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protected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int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k;</a:t>
            </a:r>
            <a:endParaRPr lang="ru-RU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private </a:t>
            </a:r>
            <a:r>
              <a:rPr lang="en-US" sz="2400" spc="5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int</a:t>
            </a:r>
            <a:r>
              <a:rPr lang="ru-RU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l;</a:t>
            </a:r>
            <a:r>
              <a:rPr lang="ru-RU" sz="2400" spc="5" dirty="0">
                <a:solidFill>
                  <a:srgbClr val="000000"/>
                </a:solidFill>
                <a:ea typeface="Times New Roman" panose="02020603050405020304" pitchFamily="18" charset="0"/>
              </a:rPr>
              <a:t> }</a:t>
            </a:r>
            <a:endParaRPr lang="en-US" sz="2400" spc="5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>
              <a:defRPr/>
            </a:pPr>
            <a:endParaRPr lang="en-US" sz="2400" spc="5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ru-RU" sz="2600" dirty="0"/>
              <a:t>Выберите два правильных ответа.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</a:t>
            </a:r>
            <a:r>
              <a:rPr lang="en-US" sz="2600" dirty="0" err="1"/>
              <a:t>i</a:t>
            </a:r>
            <a:r>
              <a:rPr lang="ru-RU" sz="2600" dirty="0"/>
              <a:t> доступно из всех классов других пакетов.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</a:t>
            </a:r>
            <a:r>
              <a:rPr lang="en-US" sz="2600" dirty="0"/>
              <a:t>j</a:t>
            </a:r>
            <a:r>
              <a:rPr lang="ru-RU" sz="2600" dirty="0"/>
              <a:t> доступно из всех классов других пакетов.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к доступно из всех классов других пакетов.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к доступно из подклассов только других пакетов.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</a:t>
            </a:r>
            <a:r>
              <a:rPr lang="en-US" sz="2600" dirty="0"/>
              <a:t>l</a:t>
            </a:r>
            <a:r>
              <a:rPr lang="ru-RU" sz="2600" dirty="0"/>
              <a:t> доступно во всех классах других пакетов.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600" dirty="0"/>
              <a:t>Поле </a:t>
            </a:r>
            <a:r>
              <a:rPr lang="en-US" sz="2600" dirty="0"/>
              <a:t>l</a:t>
            </a:r>
            <a:r>
              <a:rPr lang="ru-RU" sz="2600" dirty="0"/>
              <a:t> доступно в подклассах только других пакетов.</a:t>
            </a:r>
          </a:p>
          <a:p>
            <a:pPr>
              <a:defRPr/>
            </a:pPr>
            <a:endParaRPr lang="ru-RU" sz="2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989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20483" name="Заголовок 2"/>
          <p:cNvSpPr>
            <a:spLocks noGrp="1"/>
          </p:cNvSpPr>
          <p:nvPr>
            <p:ph type="title"/>
          </p:nvPr>
        </p:nvSpPr>
        <p:spPr>
          <a:xfrm>
            <a:off x="857839" y="404814"/>
            <a:ext cx="9683161" cy="503237"/>
          </a:xfrm>
        </p:spPr>
        <p:txBody>
          <a:bodyPr>
            <a:noAutofit/>
          </a:bodyPr>
          <a:lstStyle/>
          <a:p>
            <a:pPr algn="l"/>
            <a:r>
              <a:rPr lang="en-US" altLang="ru-RU" sz="2600" b="1" dirty="0"/>
              <a:t>47. </a:t>
            </a:r>
            <a:r>
              <a:rPr lang="ru-RU" altLang="ru-RU" sz="2600" b="1" dirty="0"/>
              <a:t>Оцените степень строгости доступа по умолчанию по сравнению с доступами </a:t>
            </a:r>
            <a:r>
              <a:rPr lang="ru-RU" altLang="ru-RU" sz="2600" b="1" dirty="0" err="1"/>
              <a:t>public</a:t>
            </a:r>
            <a:r>
              <a:rPr lang="en-US" altLang="ru-RU" sz="2600" b="1" dirty="0"/>
              <a:t> </a:t>
            </a:r>
            <a:r>
              <a:rPr lang="ru-RU" altLang="ru-RU" sz="2600" b="1" dirty="0"/>
              <a:t>(общедоступный), </a:t>
            </a:r>
            <a:r>
              <a:rPr lang="ru-RU" altLang="ru-RU" sz="2600" b="1" dirty="0" err="1"/>
              <a:t>protected</a:t>
            </a:r>
            <a:r>
              <a:rPr lang="ru-RU" altLang="ru-RU" sz="2600" b="1" dirty="0"/>
              <a:t> (защищенный) и </a:t>
            </a:r>
            <a:r>
              <a:rPr lang="ru-RU" altLang="ru-RU" sz="2600" b="1" dirty="0" err="1"/>
              <a:t>private</a:t>
            </a:r>
            <a:r>
              <a:rPr lang="ru-RU" altLang="ru-RU" sz="2600" b="1" dirty="0"/>
              <a:t> (закрытый).</a:t>
            </a:r>
          </a:p>
        </p:txBody>
      </p:sp>
      <p:sp>
        <p:nvSpPr>
          <p:cNvPr id="20484" name="Прямоугольник 1"/>
          <p:cNvSpPr>
            <a:spLocks noChangeArrowheads="1"/>
          </p:cNvSpPr>
          <p:nvPr/>
        </p:nvSpPr>
        <p:spPr bwMode="auto">
          <a:xfrm>
            <a:off x="1682750" y="1268414"/>
            <a:ext cx="83645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ru-RU" sz="2000"/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/>
          </a:p>
        </p:txBody>
      </p:sp>
      <p:sp>
        <p:nvSpPr>
          <p:cNvPr id="4" name="Прямоугольник 3"/>
          <p:cNvSpPr/>
          <p:nvPr/>
        </p:nvSpPr>
        <p:spPr>
          <a:xfrm>
            <a:off x="1682750" y="1382713"/>
            <a:ext cx="8858250" cy="39087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/>
              <a:t>Выберите один правильный ответ.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800" dirty="0"/>
              <a:t>Менее строг, чем </a:t>
            </a:r>
            <a:r>
              <a:rPr lang="en-US" sz="2800" dirty="0"/>
              <a:t>public</a:t>
            </a:r>
            <a:r>
              <a:rPr lang="ru-RU" sz="2800" dirty="0"/>
              <a:t>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800" dirty="0"/>
              <a:t>Более строг, чем </a:t>
            </a:r>
            <a:r>
              <a:rPr lang="en-US" sz="2800" dirty="0"/>
              <a:t>public</a:t>
            </a:r>
            <a:r>
              <a:rPr lang="ru-RU" sz="2800" dirty="0"/>
              <a:t>, но менее, чем </a:t>
            </a:r>
            <a:r>
              <a:rPr lang="en-US" sz="2800" dirty="0"/>
              <a:t>protected</a:t>
            </a:r>
            <a:r>
              <a:rPr lang="ru-RU" sz="2800" dirty="0"/>
              <a:t>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800" dirty="0"/>
              <a:t>Более строг, чем </a:t>
            </a:r>
            <a:r>
              <a:rPr lang="en-US" sz="2800" dirty="0"/>
              <a:t>protected</a:t>
            </a:r>
            <a:r>
              <a:rPr lang="ru-RU" sz="2800" dirty="0"/>
              <a:t>, но менее, чем </a:t>
            </a:r>
            <a:r>
              <a:rPr lang="en-US" sz="2800" dirty="0"/>
              <a:t>private</a:t>
            </a:r>
            <a:r>
              <a:rPr lang="ru-RU" sz="2800" dirty="0"/>
              <a:t>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800" dirty="0"/>
              <a:t>Более строг, чем </a:t>
            </a:r>
            <a:r>
              <a:rPr lang="en-US" sz="2800" dirty="0"/>
              <a:t>private</a:t>
            </a:r>
            <a:r>
              <a:rPr lang="ru-RU" sz="2800" dirty="0"/>
              <a:t>.</a:t>
            </a:r>
          </a:p>
          <a:p>
            <a:pPr marL="342900" indent="-342900">
              <a:buFont typeface="+mj-lt"/>
              <a:buAutoNum type="arabicParenR"/>
              <a:defRPr/>
            </a:pPr>
            <a:r>
              <a:rPr lang="ru-RU" sz="2800" dirty="0"/>
              <a:t>Менее строг, чем </a:t>
            </a:r>
            <a:r>
              <a:rPr lang="en-US" sz="2800" dirty="0"/>
              <a:t>protected</a:t>
            </a:r>
            <a:r>
              <a:rPr lang="ru-RU" sz="2800" dirty="0"/>
              <a:t>, в случае, когда оба рассматриваются внутри одного</a:t>
            </a:r>
            <a:r>
              <a:rPr lang="en-US" sz="2800" dirty="0"/>
              <a:t> </a:t>
            </a:r>
            <a:r>
              <a:rPr lang="ru-RU" sz="2800" dirty="0"/>
              <a:t>и того же пакета, и более строг, чем </a:t>
            </a:r>
            <a:r>
              <a:rPr lang="en-US" sz="2800" dirty="0"/>
              <a:t>protected</a:t>
            </a:r>
            <a:r>
              <a:rPr lang="ru-RU" sz="2800" dirty="0"/>
              <a:t>, в случае внешнего пакета.</a:t>
            </a:r>
          </a:p>
          <a:p>
            <a:pPr>
              <a:defRPr/>
            </a:pPr>
            <a:endParaRPr lang="ru-RU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6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21507" name="Заголовок 2"/>
          <p:cNvSpPr>
            <a:spLocks noGrp="1"/>
          </p:cNvSpPr>
          <p:nvPr>
            <p:ph type="title"/>
          </p:nvPr>
        </p:nvSpPr>
        <p:spPr>
          <a:xfrm>
            <a:off x="1682750" y="177800"/>
            <a:ext cx="8858250" cy="503238"/>
          </a:xfrm>
        </p:spPr>
        <p:txBody>
          <a:bodyPr/>
          <a:lstStyle/>
          <a:p>
            <a:pPr algn="l"/>
            <a:r>
              <a:rPr lang="en-US" altLang="ru-RU" sz="2400" b="1" dirty="0"/>
              <a:t>48. </a:t>
            </a:r>
            <a:r>
              <a:rPr lang="ru-RU" altLang="ru-RU" sz="2400" b="1" dirty="0"/>
              <a:t>Даны несколько объявлений. Какое из утверждений верно?</a:t>
            </a:r>
          </a:p>
        </p:txBody>
      </p:sp>
      <p:sp>
        <p:nvSpPr>
          <p:cNvPr id="21508" name="Прямоугольник 1"/>
          <p:cNvSpPr>
            <a:spLocks noChangeArrowheads="1"/>
          </p:cNvSpPr>
          <p:nvPr/>
        </p:nvSpPr>
        <p:spPr bwMode="auto">
          <a:xfrm>
            <a:off x="1682750" y="1268414"/>
            <a:ext cx="83645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ru-RU" sz="2000"/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/>
          </a:p>
        </p:txBody>
      </p:sp>
      <p:sp>
        <p:nvSpPr>
          <p:cNvPr id="4" name="Прямоугольник 3"/>
          <p:cNvSpPr/>
          <p:nvPr/>
        </p:nvSpPr>
        <p:spPr>
          <a:xfrm>
            <a:off x="1666875" y="938213"/>
            <a:ext cx="8858250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 err="1"/>
              <a:t>int</a:t>
            </a:r>
            <a:r>
              <a:rPr lang="en-US" sz="2400" dirty="0"/>
              <a:t> a;				//(1)</a:t>
            </a:r>
          </a:p>
          <a:p>
            <a:pPr>
              <a:defRPr/>
            </a:pPr>
            <a:r>
              <a:rPr lang="en-US" sz="2400" dirty="0"/>
              <a:t>static </a:t>
            </a:r>
            <a:r>
              <a:rPr lang="en-US" sz="2400" dirty="0" err="1"/>
              <a:t>int</a:t>
            </a:r>
            <a:r>
              <a:rPr lang="en-US" sz="2400" dirty="0"/>
              <a:t> a;			//(2)		</a:t>
            </a:r>
          </a:p>
          <a:p>
            <a:pPr>
              <a:defRPr/>
            </a:pPr>
            <a:r>
              <a:rPr lang="en-US" sz="2400" dirty="0" err="1"/>
              <a:t>int</a:t>
            </a:r>
            <a:r>
              <a:rPr lang="en-US" sz="2400" dirty="0"/>
              <a:t> f()  {  return a;   }	           //(3)</a:t>
            </a:r>
          </a:p>
          <a:p>
            <a:pPr>
              <a:defRPr/>
            </a:pPr>
            <a:r>
              <a:rPr lang="en-US" sz="2400" dirty="0"/>
              <a:t>static </a:t>
            </a:r>
            <a:r>
              <a:rPr lang="en-US" sz="2400" dirty="0" err="1"/>
              <a:t>int</a:t>
            </a:r>
            <a:r>
              <a:rPr lang="en-US" sz="2400" dirty="0"/>
              <a:t> f()  {  return	 a;   }	//(4)</a:t>
            </a:r>
          </a:p>
          <a:p>
            <a:pPr>
              <a:defRPr/>
            </a:pPr>
            <a:endParaRPr lang="en-US" sz="2400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ru-RU" sz="2400" dirty="0"/>
              <a:t>Выберите один правильный ответ.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ru-RU" sz="2400" dirty="0"/>
              <a:t>Объявления (1) и (3) не могут находиться в одном и том же классе.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ru-RU" sz="2400" dirty="0"/>
              <a:t>Объявления (2) и (4) не могут находиться в одном и том же классе.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ru-RU" sz="2400" dirty="0"/>
              <a:t>Объявления (1) и (4) не могут находиться в одном и том же классе.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ru-RU" sz="2400" dirty="0"/>
              <a:t>Объявления (2) и (3) не могут находиться в одном и том же классе</a:t>
            </a:r>
            <a:r>
              <a:rPr lang="ru-RU" dirty="0"/>
              <a:t>.</a:t>
            </a:r>
          </a:p>
          <a:p>
            <a:pPr>
              <a:defRPr/>
            </a:pPr>
            <a:endParaRPr lang="ru-RU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45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3716339"/>
            <a:ext cx="91440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u-RU" altLang="ru-RU" kern="0" dirty="0"/>
          </a:p>
        </p:txBody>
      </p:sp>
      <p:sp>
        <p:nvSpPr>
          <p:cNvPr id="22531" name="Заголовок 2"/>
          <p:cNvSpPr>
            <a:spLocks noGrp="1"/>
          </p:cNvSpPr>
          <p:nvPr>
            <p:ph type="title"/>
          </p:nvPr>
        </p:nvSpPr>
        <p:spPr>
          <a:xfrm>
            <a:off x="1682750" y="177800"/>
            <a:ext cx="8858250" cy="503238"/>
          </a:xfrm>
        </p:spPr>
        <p:txBody>
          <a:bodyPr/>
          <a:lstStyle/>
          <a:p>
            <a:pPr algn="l"/>
            <a:r>
              <a:rPr lang="en-US" altLang="ru-RU" sz="2400" b="1" dirty="0"/>
              <a:t>49. </a:t>
            </a:r>
            <a:r>
              <a:rPr lang="ru-RU" altLang="ru-RU" sz="2400" b="1" dirty="0"/>
              <a:t>Даны несколько объявлений. Какое из утверждений верно?</a:t>
            </a:r>
          </a:p>
        </p:txBody>
      </p:sp>
      <p:sp>
        <p:nvSpPr>
          <p:cNvPr id="22532" name="Прямоугольник 1"/>
          <p:cNvSpPr>
            <a:spLocks noChangeArrowheads="1"/>
          </p:cNvSpPr>
          <p:nvPr/>
        </p:nvSpPr>
        <p:spPr bwMode="auto">
          <a:xfrm>
            <a:off x="1682750" y="1268414"/>
            <a:ext cx="83645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ru-RU" sz="2000"/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/>
          </a:p>
        </p:txBody>
      </p:sp>
      <p:sp>
        <p:nvSpPr>
          <p:cNvPr id="4" name="Прямоугольник 3"/>
          <p:cNvSpPr/>
          <p:nvPr/>
        </p:nvSpPr>
        <p:spPr>
          <a:xfrm>
            <a:off x="1666875" y="938214"/>
            <a:ext cx="8858250" cy="6002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400" dirty="0"/>
              <a:t>Какие определения интерфейса </a:t>
            </a:r>
            <a:r>
              <a:rPr lang="ru-RU" sz="2400" dirty="0" err="1"/>
              <a:t>MyInterface</a:t>
            </a:r>
            <a:r>
              <a:rPr lang="ru-RU" sz="2400" dirty="0"/>
              <a:t> являются корректными?</a:t>
            </a:r>
          </a:p>
          <a:p>
            <a:pPr>
              <a:defRPr/>
            </a:pPr>
            <a:r>
              <a:rPr lang="en-US" sz="2400" dirty="0"/>
              <a:t>1) interface </a:t>
            </a:r>
            <a:r>
              <a:rPr lang="en-US" sz="2400" dirty="0" err="1"/>
              <a:t>MyInterface</a:t>
            </a:r>
            <a:r>
              <a:rPr lang="en-US" sz="2400" dirty="0"/>
              <a:t>{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</a:t>
            </a:r>
            <a:r>
              <a:rPr lang="en-US" sz="2400" dirty="0" err="1"/>
              <a:t>int</a:t>
            </a:r>
            <a:r>
              <a:rPr lang="en-US" sz="2400" dirty="0"/>
              <a:t> result(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) { return(</a:t>
            </a:r>
            <a:r>
              <a:rPr lang="en-US" sz="2400" dirty="0" err="1"/>
              <a:t>i</a:t>
            </a:r>
            <a:r>
              <a:rPr lang="en-US" sz="2400" dirty="0"/>
              <a:t>++); } }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2) interface </a:t>
            </a:r>
            <a:r>
              <a:rPr lang="en-US" sz="2400" dirty="0" err="1"/>
              <a:t>MyInterface</a:t>
            </a:r>
            <a:r>
              <a:rPr lang="en-US" sz="2400" dirty="0"/>
              <a:t> {</a:t>
            </a:r>
            <a:endParaRPr lang="ru-RU" sz="2400" dirty="0"/>
          </a:p>
          <a:p>
            <a:pPr>
              <a:defRPr/>
            </a:pPr>
            <a:r>
              <a:rPr lang="en-US" sz="2400" dirty="0" err="1"/>
              <a:t>int</a:t>
            </a:r>
            <a:r>
              <a:rPr lang="en-US" sz="2400" dirty="0"/>
              <a:t> result(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); }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3) public interface </a:t>
            </a:r>
            <a:r>
              <a:rPr lang="en-US" sz="2400" dirty="0" err="1"/>
              <a:t>MyInterface</a:t>
            </a:r>
            <a:r>
              <a:rPr lang="en-US" sz="2400" dirty="0"/>
              <a:t> {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static </a:t>
            </a:r>
            <a:r>
              <a:rPr lang="en-US" sz="2400" dirty="0" err="1"/>
              <a:t>int</a:t>
            </a:r>
            <a:r>
              <a:rPr lang="en-US" sz="2400" dirty="0"/>
              <a:t> result(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); }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4) public interface </a:t>
            </a:r>
            <a:r>
              <a:rPr lang="en-US" sz="2400" dirty="0" err="1"/>
              <a:t>MyInterface</a:t>
            </a:r>
            <a:r>
              <a:rPr lang="en-US" sz="2400" dirty="0"/>
              <a:t> {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final static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{ </a:t>
            </a:r>
            <a:r>
              <a:rPr lang="en-US" sz="2400" dirty="0" err="1"/>
              <a:t>i</a:t>
            </a:r>
            <a:r>
              <a:rPr lang="en-US" sz="2400" dirty="0"/>
              <a:t>=0; }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abstract </a:t>
            </a:r>
            <a:r>
              <a:rPr lang="en-US" sz="2400" dirty="0" err="1"/>
              <a:t>int</a:t>
            </a:r>
            <a:r>
              <a:rPr lang="en-US" sz="2400" dirty="0"/>
              <a:t> result(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); }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5) public interface </a:t>
            </a:r>
            <a:r>
              <a:rPr lang="en-US" sz="2400" dirty="0" err="1"/>
              <a:t>MyInterface</a:t>
            </a:r>
            <a:r>
              <a:rPr lang="en-US" sz="2400" dirty="0"/>
              <a:t>{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final static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public abstract </a:t>
            </a:r>
            <a:r>
              <a:rPr lang="en-US" sz="2400" dirty="0" err="1"/>
              <a:t>int</a:t>
            </a:r>
            <a:r>
              <a:rPr lang="en-US" sz="2400" dirty="0"/>
              <a:t> result(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);}</a:t>
            </a:r>
            <a:endParaRPr lang="ru-RU" sz="2400" dirty="0"/>
          </a:p>
          <a:p>
            <a:pPr>
              <a:defRPr/>
            </a:pPr>
            <a:endParaRPr lang="ru-RU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489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770" y="205545"/>
            <a:ext cx="8569325" cy="561975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ru-RU" sz="2400" b="1" dirty="0"/>
              <a:t>50</a:t>
            </a:r>
            <a:r>
              <a:rPr lang="ru-RU" altLang="ru-RU" sz="2400" b="1" dirty="0"/>
              <a:t>. Результат работы программы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5770" y="555626"/>
            <a:ext cx="8229600" cy="5976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ru-RU" sz="2200" dirty="0"/>
              <a:t>abstract class A { </a:t>
            </a:r>
          </a:p>
          <a:p>
            <a:pPr marL="0" indent="0">
              <a:buNone/>
            </a:pPr>
            <a:r>
              <a:rPr lang="en-US" altLang="ru-RU" sz="2200" dirty="0"/>
              <a:t>abstract void </a:t>
            </a:r>
            <a:r>
              <a:rPr lang="en-US" altLang="ru-RU" sz="2200" dirty="0" err="1"/>
              <a:t>callme</a:t>
            </a:r>
            <a:r>
              <a:rPr lang="en-US" altLang="ru-RU" sz="2200" dirty="0"/>
              <a:t>(); </a:t>
            </a:r>
          </a:p>
          <a:p>
            <a:pPr marL="0" indent="0">
              <a:buNone/>
            </a:pPr>
            <a:r>
              <a:rPr lang="en-US" altLang="ru-RU" sz="2200" dirty="0"/>
              <a:t>void </a:t>
            </a:r>
            <a:r>
              <a:rPr lang="en-US" altLang="ru-RU" sz="2200" dirty="0" err="1"/>
              <a:t>metoo</a:t>
            </a:r>
            <a:r>
              <a:rPr lang="en-US" altLang="ru-RU" sz="2200" dirty="0"/>
              <a:t>() { </a:t>
            </a:r>
          </a:p>
          <a:p>
            <a:pPr marL="0" indent="0">
              <a:buNone/>
            </a:pPr>
            <a:r>
              <a:rPr lang="en-US" altLang="ru-RU" sz="2200" dirty="0" err="1"/>
              <a:t>System.out.println</a:t>
            </a:r>
            <a:r>
              <a:rPr lang="en-US" altLang="ru-RU" sz="2200" dirty="0"/>
              <a:t>("Inside A's </a:t>
            </a:r>
            <a:r>
              <a:rPr lang="en-US" altLang="ru-RU" sz="2200" dirty="0" err="1"/>
              <a:t>metoo</a:t>
            </a:r>
            <a:r>
              <a:rPr lang="en-US" altLang="ru-RU" sz="2200" dirty="0"/>
              <a:t> method"); </a:t>
            </a:r>
          </a:p>
          <a:p>
            <a:pPr marL="0" indent="0">
              <a:buNone/>
            </a:pPr>
            <a:r>
              <a:rPr lang="en-US" altLang="ru-RU" sz="2200" dirty="0"/>
              <a:t>} } </a:t>
            </a:r>
          </a:p>
          <a:p>
            <a:pPr marL="0" indent="0">
              <a:buNone/>
            </a:pPr>
            <a:r>
              <a:rPr lang="en-US" altLang="ru-RU" sz="2200" dirty="0"/>
              <a:t>class B extends A { </a:t>
            </a:r>
          </a:p>
          <a:p>
            <a:pPr marL="0" indent="0">
              <a:buNone/>
            </a:pPr>
            <a:r>
              <a:rPr lang="en-US" altLang="ru-RU" sz="2200" dirty="0"/>
              <a:t>void </a:t>
            </a:r>
            <a:r>
              <a:rPr lang="en-US" altLang="ru-RU" sz="2200" dirty="0" err="1"/>
              <a:t>callme</a:t>
            </a:r>
            <a:r>
              <a:rPr lang="en-US" altLang="ru-RU" sz="2200" dirty="0"/>
              <a:t>() { </a:t>
            </a:r>
          </a:p>
          <a:p>
            <a:pPr marL="0" indent="0">
              <a:buNone/>
            </a:pPr>
            <a:r>
              <a:rPr lang="en-US" altLang="ru-RU" sz="2200" dirty="0" err="1"/>
              <a:t>System.out.println</a:t>
            </a:r>
            <a:r>
              <a:rPr lang="en-US" altLang="ru-RU" sz="2200" dirty="0"/>
              <a:t>("Inside B's </a:t>
            </a:r>
            <a:r>
              <a:rPr lang="en-US" altLang="ru-RU" sz="2200" dirty="0" err="1"/>
              <a:t>callme</a:t>
            </a:r>
            <a:r>
              <a:rPr lang="en-US" altLang="ru-RU" sz="2200" dirty="0"/>
              <a:t> method"); </a:t>
            </a:r>
          </a:p>
          <a:p>
            <a:pPr marL="0" indent="0">
              <a:buNone/>
            </a:pPr>
            <a:r>
              <a:rPr lang="en-US" altLang="ru-RU" sz="2200" dirty="0"/>
              <a:t>} } </a:t>
            </a:r>
          </a:p>
          <a:p>
            <a:pPr marL="0" indent="0">
              <a:buNone/>
            </a:pPr>
            <a:r>
              <a:rPr lang="en-US" altLang="ru-RU" sz="2200" dirty="0"/>
              <a:t>class Abstract { </a:t>
            </a:r>
          </a:p>
          <a:p>
            <a:pPr marL="0" indent="0">
              <a:buNone/>
            </a:pPr>
            <a:r>
              <a:rPr lang="en-US" altLang="ru-RU" sz="2200" dirty="0"/>
              <a:t>public static void main(String </a:t>
            </a:r>
            <a:r>
              <a:rPr lang="en-US" altLang="ru-RU" sz="2200" dirty="0" err="1"/>
              <a:t>args</a:t>
            </a:r>
            <a:r>
              <a:rPr lang="en-US" altLang="ru-RU" sz="2200" dirty="0"/>
              <a:t>[]) { </a:t>
            </a:r>
          </a:p>
          <a:p>
            <a:pPr marL="0" indent="0">
              <a:buNone/>
            </a:pPr>
            <a:r>
              <a:rPr lang="en-US" altLang="ru-RU" sz="2200" dirty="0"/>
              <a:t>A </a:t>
            </a:r>
            <a:r>
              <a:rPr lang="en-US" altLang="ru-RU" sz="2200" dirty="0" err="1"/>
              <a:t>a</a:t>
            </a:r>
            <a:r>
              <a:rPr lang="en-US" altLang="ru-RU" sz="2200" dirty="0"/>
              <a:t> = new B(); </a:t>
            </a:r>
          </a:p>
          <a:p>
            <a:pPr marL="0" indent="0">
              <a:buNone/>
            </a:pPr>
            <a:r>
              <a:rPr lang="en-US" altLang="ru-RU" sz="2200" dirty="0" err="1"/>
              <a:t>a.callme</a:t>
            </a:r>
            <a:r>
              <a:rPr lang="en-US" altLang="ru-RU" sz="2200" dirty="0"/>
              <a:t>(); </a:t>
            </a:r>
          </a:p>
          <a:p>
            <a:pPr marL="0" indent="0">
              <a:buNone/>
            </a:pPr>
            <a:r>
              <a:rPr lang="en-US" altLang="ru-RU" sz="2200" dirty="0" err="1"/>
              <a:t>a.metoo</a:t>
            </a:r>
            <a:r>
              <a:rPr lang="en-US" altLang="ru-RU" sz="2200" dirty="0"/>
              <a:t>();</a:t>
            </a:r>
          </a:p>
          <a:p>
            <a:pPr marL="0" indent="0">
              <a:buNone/>
            </a:pPr>
            <a:r>
              <a:rPr lang="en-US" altLang="ru-RU" sz="2200" dirty="0"/>
              <a:t>} 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892728" y="4004952"/>
            <a:ext cx="760501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altLang="ru-RU" sz="2600" kern="0" dirty="0"/>
              <a:t>1. Inside B's </a:t>
            </a:r>
            <a:r>
              <a:rPr lang="en-US" altLang="ru-RU" sz="2600" kern="0" dirty="0" err="1"/>
              <a:t>callme</a:t>
            </a:r>
            <a:r>
              <a:rPr lang="en-US" altLang="ru-RU" sz="2600" kern="0" dirty="0"/>
              <a:t> method Inside A's </a:t>
            </a:r>
            <a:r>
              <a:rPr lang="en-US" altLang="ru-RU" sz="2600" kern="0" dirty="0" err="1"/>
              <a:t>metoo</a:t>
            </a:r>
            <a:r>
              <a:rPr lang="en-US" altLang="ru-RU" sz="2600" kern="0" dirty="0"/>
              <a:t> method</a:t>
            </a:r>
          </a:p>
          <a:p>
            <a:pPr marL="0" indent="0">
              <a:buNone/>
              <a:defRPr/>
            </a:pPr>
            <a:r>
              <a:rPr lang="en-US" altLang="ru-RU" sz="2600" kern="0" dirty="0"/>
              <a:t>2. Inside A's </a:t>
            </a:r>
            <a:r>
              <a:rPr lang="en-US" altLang="ru-RU" sz="2600" kern="0" dirty="0" err="1"/>
              <a:t>metoo</a:t>
            </a:r>
            <a:r>
              <a:rPr lang="en-US" altLang="ru-RU" sz="2600" kern="0" dirty="0"/>
              <a:t> method Inside B's </a:t>
            </a:r>
            <a:r>
              <a:rPr lang="en-US" altLang="ru-RU" sz="2600" kern="0" dirty="0" err="1"/>
              <a:t>callme</a:t>
            </a:r>
            <a:r>
              <a:rPr lang="en-US" altLang="ru-RU" sz="2600" kern="0" dirty="0"/>
              <a:t> method</a:t>
            </a:r>
          </a:p>
          <a:p>
            <a:pPr marL="0" indent="0">
              <a:buNone/>
              <a:defRPr/>
            </a:pPr>
            <a:r>
              <a:rPr lang="en-US" altLang="ru-RU" sz="2600" kern="0" dirty="0"/>
              <a:t>3. Inside B's </a:t>
            </a:r>
            <a:r>
              <a:rPr lang="en-US" altLang="ru-RU" sz="2600" kern="0" dirty="0" err="1"/>
              <a:t>callme</a:t>
            </a:r>
            <a:r>
              <a:rPr lang="en-US" altLang="ru-RU" sz="2600" kern="0" dirty="0"/>
              <a:t> method </a:t>
            </a:r>
          </a:p>
          <a:p>
            <a:pPr marL="0" indent="0">
              <a:buNone/>
              <a:defRPr/>
            </a:pPr>
            <a:r>
              <a:rPr lang="en-US" altLang="ru-RU" sz="2600" kern="0" dirty="0"/>
              <a:t>4. Inside A's </a:t>
            </a:r>
            <a:r>
              <a:rPr lang="en-US" altLang="ru-RU" sz="2600" kern="0" dirty="0" err="1"/>
              <a:t>metoo</a:t>
            </a:r>
            <a:r>
              <a:rPr lang="en-US" altLang="ru-RU" sz="2600" kern="0" dirty="0"/>
              <a:t> method</a:t>
            </a:r>
          </a:p>
          <a:p>
            <a:pPr marL="0" indent="0">
              <a:buNone/>
              <a:defRPr/>
            </a:pPr>
            <a:r>
              <a:rPr lang="en-US" altLang="ru-RU" sz="2600" kern="0" dirty="0"/>
              <a:t>5. </a:t>
            </a:r>
            <a:r>
              <a:rPr lang="ru-RU" altLang="ru-RU" sz="2600" kern="0" dirty="0"/>
              <a:t>нет правильного ответа</a:t>
            </a:r>
          </a:p>
        </p:txBody>
      </p:sp>
    </p:spTree>
    <p:extLst>
      <p:ext uri="{BB962C8B-B14F-4D97-AF65-F5344CB8AC3E}">
        <p14:creationId xmlns:p14="http://schemas.microsoft.com/office/powerpoint/2010/main" val="1082149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6" y="274639"/>
            <a:ext cx="8569325" cy="561975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ru-RU" sz="2400" b="1" dirty="0"/>
              <a:t>51</a:t>
            </a:r>
            <a:r>
              <a:rPr lang="ru-RU" altLang="ru-RU" sz="2400" b="1" dirty="0"/>
              <a:t>. Какое значение будет возвращено при вызове метода </a:t>
            </a:r>
            <a:r>
              <a:rPr lang="ru-RU" altLang="ru-RU" sz="2400" b="1" dirty="0" err="1"/>
              <a:t>show</a:t>
            </a:r>
            <a:r>
              <a:rPr lang="ru-RU" altLang="ru-RU" sz="2400" b="1" dirty="0"/>
              <a:t>() из класса </a:t>
            </a:r>
            <a:r>
              <a:rPr lang="ru-RU" altLang="ru-RU" sz="2400" b="1" dirty="0" err="1"/>
              <a:t>Nested</a:t>
            </a:r>
            <a:r>
              <a:rPr lang="ru-RU" altLang="ru-RU" sz="2400" b="1" dirty="0"/>
              <a:t>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4688" y="981076"/>
            <a:ext cx="8229600" cy="5688013"/>
          </a:xfrm>
        </p:spPr>
        <p:txBody>
          <a:bodyPr/>
          <a:lstStyle/>
          <a:p>
            <a:pPr marL="0" indent="0">
              <a:buNone/>
            </a:pPr>
            <a:r>
              <a:rPr lang="en-US" altLang="ru-RU" sz="2400" dirty="0"/>
              <a:t>abstract class A {</a:t>
            </a:r>
          </a:p>
          <a:p>
            <a:pPr marL="0" indent="0">
              <a:buNone/>
            </a:pPr>
            <a:r>
              <a:rPr lang="en-US" altLang="ru-RU" sz="2400" dirty="0"/>
              <a:t>private int x=2;</a:t>
            </a:r>
          </a:p>
          <a:p>
            <a:pPr marL="0" indent="0">
              <a:buNone/>
            </a:pPr>
            <a:r>
              <a:rPr lang="en-US" altLang="ru-RU" sz="2400" dirty="0"/>
              <a:t>public int show() {</a:t>
            </a:r>
          </a:p>
          <a:p>
            <a:pPr marL="0" indent="0">
              <a:buNone/>
            </a:pPr>
            <a:r>
              <a:rPr lang="en-US" altLang="ru-RU" sz="2400" dirty="0"/>
              <a:t>return x; }</a:t>
            </a:r>
          </a:p>
          <a:p>
            <a:pPr marL="0" indent="0">
              <a:buNone/>
            </a:pPr>
            <a:r>
              <a:rPr lang="en-US" altLang="ru-RU" sz="2400" dirty="0"/>
              <a:t>}</a:t>
            </a:r>
          </a:p>
          <a:p>
            <a:pPr marL="0" indent="0">
              <a:buNone/>
            </a:pPr>
            <a:r>
              <a:rPr lang="en-US" altLang="ru-RU" sz="2400" dirty="0"/>
              <a:t>interface B{ int show(); }</a:t>
            </a:r>
          </a:p>
          <a:p>
            <a:pPr marL="0" indent="0">
              <a:buNone/>
            </a:pPr>
            <a:r>
              <a:rPr lang="en-US" altLang="ru-RU" sz="2400" dirty="0"/>
              <a:t>class C {</a:t>
            </a:r>
          </a:p>
          <a:p>
            <a:pPr marL="0" indent="0">
              <a:buNone/>
            </a:pPr>
            <a:r>
              <a:rPr lang="en-US" altLang="ru-RU" sz="2400" dirty="0"/>
              <a:t>int x=1; </a:t>
            </a:r>
          </a:p>
          <a:p>
            <a:pPr marL="0" indent="0">
              <a:buNone/>
            </a:pPr>
            <a:r>
              <a:rPr lang="en-US" altLang="ru-RU" sz="2400" dirty="0"/>
              <a:t>static class Nested extends A implements B {</a:t>
            </a:r>
          </a:p>
          <a:p>
            <a:pPr marL="0" indent="0">
              <a:buNone/>
            </a:pPr>
            <a:r>
              <a:rPr lang="en-US" altLang="ru-RU" sz="2400" dirty="0"/>
              <a:t>public int show(){</a:t>
            </a:r>
          </a:p>
          <a:p>
            <a:pPr marL="0" indent="0">
              <a:buNone/>
            </a:pPr>
            <a:r>
              <a:rPr lang="en-US" altLang="ru-RU" sz="2400" dirty="0"/>
              <a:t>return x++; }</a:t>
            </a:r>
          </a:p>
          <a:p>
            <a:pPr marL="0" indent="0">
              <a:buNone/>
            </a:pPr>
            <a:r>
              <a:rPr lang="en-US" altLang="ru-RU" sz="2400" dirty="0"/>
              <a:t>}}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067426" y="1484314"/>
            <a:ext cx="4175125" cy="2016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ru-RU" altLang="ru-RU" sz="2000" kern="0" dirty="0"/>
              <a:t>1. 1</a:t>
            </a:r>
          </a:p>
          <a:p>
            <a:pPr marL="0" indent="0">
              <a:buNone/>
              <a:defRPr/>
            </a:pPr>
            <a:r>
              <a:rPr lang="ru-RU" altLang="ru-RU" sz="2000" kern="0" dirty="0"/>
              <a:t>2. 2</a:t>
            </a:r>
          </a:p>
          <a:p>
            <a:pPr marL="0" indent="0">
              <a:buNone/>
              <a:defRPr/>
            </a:pPr>
            <a:r>
              <a:rPr lang="ru-RU" altLang="ru-RU" sz="2000" kern="0" dirty="0"/>
              <a:t>3. 3</a:t>
            </a:r>
          </a:p>
          <a:p>
            <a:pPr marL="0" indent="0">
              <a:buNone/>
              <a:defRPr/>
            </a:pPr>
            <a:r>
              <a:rPr lang="ru-RU" altLang="ru-RU" sz="2000" kern="0" dirty="0"/>
              <a:t>4. ошибка времени выполнения</a:t>
            </a:r>
          </a:p>
          <a:p>
            <a:pPr marL="0" indent="0">
              <a:buNone/>
              <a:defRPr/>
            </a:pPr>
            <a:r>
              <a:rPr lang="ru-RU" altLang="ru-RU" sz="2000" kern="0" dirty="0"/>
              <a:t>5. ошибка компиляции</a:t>
            </a:r>
          </a:p>
        </p:txBody>
      </p:sp>
    </p:spTree>
    <p:extLst>
      <p:ext uri="{BB962C8B-B14F-4D97-AF65-F5344CB8AC3E}">
        <p14:creationId xmlns:p14="http://schemas.microsoft.com/office/powerpoint/2010/main" val="42929933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6" y="274639"/>
            <a:ext cx="8569325" cy="561975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ru-RU" sz="2400" b="1" dirty="0"/>
              <a:t>52</a:t>
            </a:r>
            <a:r>
              <a:rPr lang="ru-RU" altLang="ru-RU" sz="2400" b="1" dirty="0"/>
              <a:t>. Какое значение будет возвращено при вызове метода </a:t>
            </a:r>
            <a:r>
              <a:rPr lang="ru-RU" altLang="ru-RU" sz="2400" b="1" dirty="0" err="1"/>
              <a:t>show</a:t>
            </a:r>
            <a:r>
              <a:rPr lang="ru-RU" altLang="ru-RU" sz="2400" b="1" dirty="0"/>
              <a:t>() из класса </a:t>
            </a:r>
            <a:r>
              <a:rPr lang="ru-RU" altLang="ru-RU" sz="2400" b="1" dirty="0" err="1"/>
              <a:t>Nested</a:t>
            </a:r>
            <a:r>
              <a:rPr lang="ru-RU" altLang="ru-RU" sz="2400" b="1" dirty="0"/>
              <a:t>?</a:t>
            </a:r>
            <a:br>
              <a:rPr lang="ru-RU" altLang="ru-RU" sz="2400" b="1" dirty="0"/>
            </a:br>
            <a:endParaRPr lang="ru-RU" altLang="ru-RU" sz="2400" b="1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4688" y="765176"/>
            <a:ext cx="8229600" cy="59039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ru-RU" sz="2000" dirty="0"/>
              <a:t>abstract class A {</a:t>
            </a:r>
          </a:p>
          <a:p>
            <a:pPr marL="0" indent="0">
              <a:buNone/>
            </a:pPr>
            <a:r>
              <a:rPr lang="en-US" altLang="ru-RU" sz="2000" dirty="0"/>
              <a:t>protected int x=3;</a:t>
            </a:r>
          </a:p>
          <a:p>
            <a:pPr marL="0" indent="0">
              <a:buNone/>
            </a:pPr>
            <a:r>
              <a:rPr lang="en-US" altLang="ru-RU" sz="2000" dirty="0"/>
              <a:t>public int show() {</a:t>
            </a:r>
          </a:p>
          <a:p>
            <a:pPr marL="0" indent="0">
              <a:buNone/>
            </a:pPr>
            <a:r>
              <a:rPr lang="en-US" altLang="ru-RU" sz="2000" dirty="0"/>
              <a:t>return x; </a:t>
            </a:r>
          </a:p>
          <a:p>
            <a:pPr marL="0" indent="0">
              <a:buNone/>
            </a:pPr>
            <a:r>
              <a:rPr lang="en-US" altLang="ru-RU" sz="2000" dirty="0"/>
              <a:t>}</a:t>
            </a:r>
          </a:p>
          <a:p>
            <a:pPr marL="0" indent="0">
              <a:buNone/>
            </a:pPr>
            <a:r>
              <a:rPr lang="en-US" altLang="ru-RU" sz="2000" dirty="0"/>
              <a:t>}</a:t>
            </a:r>
          </a:p>
          <a:p>
            <a:pPr marL="0" indent="0">
              <a:buNone/>
            </a:pPr>
            <a:r>
              <a:rPr lang="en-US" altLang="ru-RU" sz="2000" dirty="0"/>
              <a:t>interface B{ </a:t>
            </a:r>
          </a:p>
          <a:p>
            <a:pPr marL="0" indent="0">
              <a:buNone/>
            </a:pPr>
            <a:r>
              <a:rPr lang="en-US" altLang="ru-RU" sz="2000" dirty="0"/>
              <a:t>int show(); </a:t>
            </a:r>
          </a:p>
          <a:p>
            <a:pPr marL="0" indent="0">
              <a:buNone/>
            </a:pPr>
            <a:r>
              <a:rPr lang="en-US" altLang="ru-RU" sz="2000" dirty="0"/>
              <a:t>}</a:t>
            </a:r>
          </a:p>
          <a:p>
            <a:pPr marL="0" indent="0">
              <a:buNone/>
            </a:pPr>
            <a:r>
              <a:rPr lang="en-US" altLang="ru-RU" sz="2000" dirty="0"/>
              <a:t>class Nested extends A implements B {</a:t>
            </a:r>
          </a:p>
          <a:p>
            <a:pPr marL="0" indent="0">
              <a:buNone/>
            </a:pPr>
            <a:r>
              <a:rPr lang="en-US" altLang="ru-RU" sz="2000" dirty="0"/>
              <a:t>public int show(){</a:t>
            </a:r>
          </a:p>
          <a:p>
            <a:pPr marL="0" indent="0">
              <a:buNone/>
            </a:pPr>
            <a:r>
              <a:rPr lang="en-US" altLang="ru-RU" sz="2000" dirty="0"/>
              <a:t>return x++; </a:t>
            </a:r>
          </a:p>
          <a:p>
            <a:pPr marL="0" indent="0">
              <a:buNone/>
            </a:pPr>
            <a:r>
              <a:rPr lang="en-US" altLang="ru-RU" sz="2000" dirty="0"/>
              <a:t>}</a:t>
            </a:r>
          </a:p>
          <a:p>
            <a:pPr marL="0" indent="0">
              <a:buNone/>
            </a:pPr>
            <a:r>
              <a:rPr lang="en-US" altLang="ru-RU" sz="2000" dirty="0"/>
              <a:t>public static void main(String s[])</a:t>
            </a:r>
          </a:p>
          <a:p>
            <a:pPr marL="0" indent="0">
              <a:buNone/>
            </a:pPr>
            <a:r>
              <a:rPr lang="en-US" altLang="ru-RU" sz="2000" dirty="0"/>
              <a:t>{Nested n=new Nested();</a:t>
            </a:r>
          </a:p>
          <a:p>
            <a:pPr marL="0" indent="0">
              <a:buNone/>
            </a:pPr>
            <a:r>
              <a:rPr lang="en-US" altLang="ru-RU" sz="2000" dirty="0" err="1"/>
              <a:t>System.out.println</a:t>
            </a:r>
            <a:r>
              <a:rPr lang="en-US" altLang="ru-RU" sz="2000" dirty="0"/>
              <a:t>(</a:t>
            </a:r>
            <a:r>
              <a:rPr lang="en-US" altLang="ru-RU" sz="2000" dirty="0" err="1"/>
              <a:t>n.show</a:t>
            </a:r>
            <a:r>
              <a:rPr lang="en-US" altLang="ru-RU" sz="2000" dirty="0"/>
              <a:t>());}}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19739" y="1628775"/>
            <a:ext cx="4295775" cy="1943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ru-RU" altLang="ru-RU" sz="2000" kern="0"/>
              <a:t>1.  1</a:t>
            </a:r>
          </a:p>
          <a:p>
            <a:pPr marL="0" indent="0">
              <a:buNone/>
              <a:defRPr/>
            </a:pPr>
            <a:r>
              <a:rPr lang="ru-RU" altLang="ru-RU" sz="2000" kern="0"/>
              <a:t>2.  2</a:t>
            </a:r>
          </a:p>
          <a:p>
            <a:pPr marL="0" indent="0">
              <a:buNone/>
              <a:defRPr/>
            </a:pPr>
            <a:r>
              <a:rPr lang="ru-RU" altLang="ru-RU" sz="2000" kern="0"/>
              <a:t>3.  3</a:t>
            </a:r>
          </a:p>
          <a:p>
            <a:pPr marL="0" indent="0">
              <a:buNone/>
              <a:defRPr/>
            </a:pPr>
            <a:r>
              <a:rPr lang="ru-RU" altLang="ru-RU" sz="2000" kern="0"/>
              <a:t>4.  ошибка времени выполнения</a:t>
            </a:r>
          </a:p>
          <a:p>
            <a:pPr marL="0" indent="0">
              <a:buNone/>
              <a:defRPr/>
            </a:pPr>
            <a:r>
              <a:rPr lang="ru-RU" altLang="ru-RU" sz="2000" kern="0"/>
              <a:t>5.  ошибка компиляции</a:t>
            </a:r>
            <a:endParaRPr lang="ru-RU" altLang="ru-RU" sz="2000" kern="0" dirty="0"/>
          </a:p>
        </p:txBody>
      </p:sp>
    </p:spTree>
    <p:extLst>
      <p:ext uri="{BB962C8B-B14F-4D97-AF65-F5344CB8AC3E}">
        <p14:creationId xmlns:p14="http://schemas.microsoft.com/office/powerpoint/2010/main" val="1681034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38314" y="214314"/>
            <a:ext cx="8715375" cy="6429375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b="1" dirty="0"/>
              <a:t>53</a:t>
            </a:r>
            <a:r>
              <a:rPr lang="ru-RU" dirty="0"/>
              <a:t> Дан код:</a:t>
            </a:r>
          </a:p>
          <a:p>
            <a:pPr>
              <a:defRPr/>
            </a:pPr>
            <a:r>
              <a:rPr lang="en-US" b="1" dirty="0"/>
              <a:t>class Quest1 {</a:t>
            </a:r>
          </a:p>
          <a:p>
            <a:pPr>
              <a:defRPr/>
            </a:pPr>
            <a:r>
              <a:rPr lang="en-US" b="1" dirty="0"/>
              <a:t>private static void main (String a) {</a:t>
            </a:r>
          </a:p>
          <a:p>
            <a:pPr>
              <a:defRPr/>
            </a:pPr>
            <a:r>
              <a:rPr lang="en-US" b="1" dirty="0" err="1"/>
              <a:t>System.out.println</a:t>
            </a:r>
            <a:r>
              <a:rPr lang="en-US" b="1" dirty="0"/>
              <a:t>("Java 2");</a:t>
            </a:r>
          </a:p>
          <a:p>
            <a:pPr>
              <a:defRPr/>
            </a:pPr>
            <a:r>
              <a:rPr lang="ru-RU" b="1" dirty="0"/>
              <a:t>} }</a:t>
            </a:r>
          </a:p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Какие исправления необходимо сделать, чтобы класс Quest1 стал запускаемым приложением? </a:t>
            </a:r>
          </a:p>
          <a:p>
            <a:pPr>
              <a:defRPr/>
            </a:pPr>
            <a:r>
              <a:rPr lang="ru-RU" dirty="0"/>
              <a:t>1) объявить класс </a:t>
            </a:r>
            <a:r>
              <a:rPr lang="ru-RU" b="1" dirty="0"/>
              <a:t>Quest1 как </a:t>
            </a:r>
            <a:r>
              <a:rPr lang="ru-RU" b="1" dirty="0" err="1"/>
              <a:t>public</a:t>
            </a:r>
            <a:r>
              <a:rPr lang="ru-RU" b="1" dirty="0"/>
              <a:t>;</a:t>
            </a:r>
          </a:p>
          <a:p>
            <a:pPr>
              <a:defRPr/>
            </a:pPr>
            <a:r>
              <a:rPr lang="ru-RU" dirty="0"/>
              <a:t>2) заменить параметр метода </a:t>
            </a:r>
            <a:r>
              <a:rPr lang="ru-RU" b="1" dirty="0" err="1"/>
              <a:t>main</a:t>
            </a:r>
            <a:r>
              <a:rPr lang="ru-RU" b="1" dirty="0"/>
              <a:t>() на </a:t>
            </a:r>
            <a:r>
              <a:rPr lang="ru-RU" b="1" dirty="0" err="1"/>
              <a:t>String</a:t>
            </a:r>
            <a:r>
              <a:rPr lang="ru-RU" b="1" dirty="0"/>
              <a:t>[] </a:t>
            </a:r>
            <a:r>
              <a:rPr lang="ru-RU" b="1" dirty="0" err="1"/>
              <a:t>a</a:t>
            </a:r>
            <a:r>
              <a:rPr lang="ru-RU" b="1" dirty="0"/>
              <a:t>;</a:t>
            </a:r>
          </a:p>
          <a:p>
            <a:pPr>
              <a:defRPr/>
            </a:pPr>
            <a:r>
              <a:rPr lang="ru-RU" dirty="0"/>
              <a:t>3) заменить параметр доступа к методу </a:t>
            </a:r>
            <a:r>
              <a:rPr lang="ru-RU" b="1" dirty="0" err="1"/>
              <a:t>main</a:t>
            </a:r>
            <a:r>
              <a:rPr lang="ru-RU" b="1" dirty="0"/>
              <a:t>() на </a:t>
            </a:r>
            <a:r>
              <a:rPr lang="ru-RU" b="1" dirty="0" err="1"/>
              <a:t>public</a:t>
            </a:r>
            <a:r>
              <a:rPr lang="ru-RU" b="1" dirty="0"/>
              <a:t>;</a:t>
            </a:r>
          </a:p>
          <a:p>
            <a:pPr>
              <a:defRPr/>
            </a:pPr>
            <a:r>
              <a:rPr lang="ru-RU" dirty="0"/>
              <a:t>4) убрать параметр из объявления метода </a:t>
            </a:r>
            <a:r>
              <a:rPr lang="ru-RU" b="1" dirty="0" err="1"/>
              <a:t>main</a:t>
            </a:r>
            <a:r>
              <a:rPr lang="ru-RU" b="1" dirty="0"/>
              <a:t>().</a:t>
            </a:r>
          </a:p>
          <a:p>
            <a:pPr marL="0" indent="0"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5463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ru-RU" b="1" dirty="0"/>
              <a:t>54</a:t>
            </a:r>
            <a:endParaRPr lang="ru-RU" altLang="ru-RU" b="1" dirty="0"/>
          </a:p>
          <a:p>
            <a:pPr marL="0" indent="0" eaLnBrk="1" hangingPunct="1">
              <a:buNone/>
            </a:pPr>
            <a:r>
              <a:rPr lang="ru-RU" altLang="ru-RU" dirty="0"/>
              <a:t>Выберите истинные утверждения:</a:t>
            </a:r>
          </a:p>
          <a:p>
            <a:pPr eaLnBrk="1" hangingPunct="1"/>
            <a:r>
              <a:rPr lang="ru-RU" altLang="ru-RU" dirty="0"/>
              <a:t>1) в </a:t>
            </a:r>
            <a:r>
              <a:rPr lang="ru-RU" altLang="ru-RU" dirty="0" err="1"/>
              <a:t>Java</a:t>
            </a:r>
            <a:r>
              <a:rPr lang="ru-RU" altLang="ru-RU" dirty="0"/>
              <a:t> можно использовать оператор </a:t>
            </a:r>
            <a:r>
              <a:rPr lang="ru-RU" altLang="ru-RU" b="1" dirty="0" err="1"/>
              <a:t>goto</a:t>
            </a:r>
            <a:r>
              <a:rPr lang="ru-RU" altLang="ru-RU" b="1" dirty="0"/>
              <a:t>;</a:t>
            </a:r>
          </a:p>
          <a:p>
            <a:pPr eaLnBrk="1" hangingPunct="1"/>
            <a:r>
              <a:rPr lang="ru-RU" altLang="ru-RU" dirty="0"/>
              <a:t>2) в </a:t>
            </a:r>
            <a:r>
              <a:rPr lang="ru-RU" altLang="ru-RU" dirty="0" err="1"/>
              <a:t>Java</a:t>
            </a:r>
            <a:r>
              <a:rPr lang="ru-RU" altLang="ru-RU" dirty="0"/>
              <a:t> можно создавать методы, не принадлежащие ни одному классу;</a:t>
            </a:r>
          </a:p>
          <a:p>
            <a:pPr eaLnBrk="1" hangingPunct="1"/>
            <a:r>
              <a:rPr lang="ru-RU" altLang="ru-RU" dirty="0"/>
              <a:t>3) </a:t>
            </a:r>
            <a:r>
              <a:rPr lang="ru-RU" altLang="ru-RU" dirty="0" err="1"/>
              <a:t>Java</a:t>
            </a:r>
            <a:r>
              <a:rPr lang="ru-RU" altLang="ru-RU" dirty="0"/>
              <a:t> поддерживает множественное наследование классов;</a:t>
            </a:r>
          </a:p>
          <a:p>
            <a:pPr eaLnBrk="1" hangingPunct="1"/>
            <a:r>
              <a:rPr lang="ru-RU" altLang="ru-RU" dirty="0"/>
              <a:t>4) в </a:t>
            </a:r>
            <a:r>
              <a:rPr lang="ru-RU" altLang="ru-RU" dirty="0" err="1"/>
              <a:t>Java</a:t>
            </a:r>
            <a:r>
              <a:rPr lang="ru-RU" altLang="ru-RU" dirty="0"/>
              <a:t> нельзя перегрузить оператор;</a:t>
            </a:r>
          </a:p>
          <a:p>
            <a:pPr eaLnBrk="1" hangingPunct="1"/>
            <a:r>
              <a:rPr lang="en-US" altLang="ru-RU" dirty="0"/>
              <a:t>5) Java </a:t>
            </a:r>
            <a:r>
              <a:rPr lang="ru-RU" altLang="ru-RU" dirty="0"/>
              <a:t>поддерживает </a:t>
            </a:r>
            <a:r>
              <a:rPr lang="ru-RU" altLang="ru-RU" dirty="0" err="1"/>
              <a:t>многопоточность</a:t>
            </a:r>
            <a:r>
              <a:rPr lang="ru-RU" altLang="ru-RU" dirty="0"/>
              <a:t>.</a:t>
            </a:r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0615673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 fontScale="85000" lnSpcReduction="20000"/>
          </a:bodyPr>
          <a:lstStyle/>
          <a:p>
            <a:pPr>
              <a:buNone/>
              <a:defRPr/>
            </a:pPr>
            <a:r>
              <a:rPr lang="en-US" sz="4000" b="1" dirty="0"/>
              <a:t>55</a:t>
            </a:r>
            <a:endParaRPr lang="ru-RU" sz="4000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Дан код: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public class Quest5{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public static void main(){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System.out.print</a:t>
            </a:r>
            <a:r>
              <a:rPr lang="en-US" sz="3600" b="1" dirty="0"/>
              <a:t>("</a:t>
            </a:r>
            <a:r>
              <a:rPr lang="ru-RU" sz="3600" b="1" dirty="0"/>
              <a:t>А"); }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public static void main(String </a:t>
            </a:r>
            <a:r>
              <a:rPr lang="en-US" sz="3600" b="1" dirty="0" err="1"/>
              <a:t>args</a:t>
            </a:r>
            <a:r>
              <a:rPr lang="en-US" sz="3600" b="1" dirty="0"/>
              <a:t>){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System.out.print</a:t>
            </a:r>
            <a:r>
              <a:rPr lang="en-US" sz="3600" b="1" dirty="0"/>
              <a:t>("</a:t>
            </a:r>
            <a:r>
              <a:rPr lang="ru-RU" sz="3600" b="1" dirty="0"/>
              <a:t>Б"); }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public static void main(String[] </a:t>
            </a:r>
            <a:r>
              <a:rPr lang="en-US" sz="3600" b="1" dirty="0" err="1"/>
              <a:t>args</a:t>
            </a:r>
            <a:r>
              <a:rPr lang="en-US" sz="3600" b="1" dirty="0"/>
              <a:t>){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System.out.print</a:t>
            </a:r>
            <a:r>
              <a:rPr lang="en-US" sz="3600" b="1" dirty="0"/>
              <a:t>("</a:t>
            </a:r>
            <a:r>
              <a:rPr lang="ru-RU" sz="3600" b="1" dirty="0"/>
              <a:t>В"); } }</a:t>
            </a:r>
          </a:p>
          <a:p>
            <a:pPr>
              <a:defRPr/>
            </a:pPr>
            <a:r>
              <a:rPr lang="ru-RU" sz="3600" dirty="0"/>
              <a:t>Что будет выведено в результате компиляции и запуска:</a:t>
            </a:r>
          </a:p>
          <a:p>
            <a:pPr>
              <a:defRPr/>
            </a:pPr>
            <a:r>
              <a:rPr lang="ru-RU" sz="3600" dirty="0"/>
              <a:t>1) ошибка компиляции;</a:t>
            </a:r>
          </a:p>
          <a:p>
            <a:pPr>
              <a:defRPr/>
            </a:pPr>
            <a:r>
              <a:rPr lang="ru-RU" sz="3600" dirty="0"/>
              <a:t>2) Б;</a:t>
            </a:r>
          </a:p>
          <a:p>
            <a:pPr>
              <a:defRPr/>
            </a:pPr>
            <a:r>
              <a:rPr lang="ru-RU" sz="3600" dirty="0"/>
              <a:t>3) ВБА;</a:t>
            </a:r>
          </a:p>
          <a:p>
            <a:pPr>
              <a:defRPr/>
            </a:pPr>
            <a:r>
              <a:rPr lang="ru-RU" sz="3600" dirty="0"/>
              <a:t>4) В;</a:t>
            </a:r>
          </a:p>
          <a:p>
            <a:pPr>
              <a:defRPr/>
            </a:pPr>
            <a:r>
              <a:rPr lang="ru-RU" sz="3600" dirty="0"/>
              <a:t>5) АБВ.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701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sz="4000" b="1" dirty="0"/>
              <a:t>56</a:t>
            </a:r>
            <a:endParaRPr lang="ru-RU" sz="4000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Какие из следующих строк скомпилируются без ошибки?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3D19BB-4F98-496D-AA04-9236C5B2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1778914"/>
            <a:ext cx="5750351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4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1)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float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7.0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2)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char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"z"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3)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byte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255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4)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5)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32565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6)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j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'ъ'</a:t>
            </a:r>
            <a:r>
              <a:rPr kumimoji="0" lang="ru-BY" altLang="ru-BY" sz="4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endParaRPr kumimoji="0" lang="ru-BY" altLang="ru-BY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9884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sz="4000" b="1" dirty="0"/>
              <a:t>57</a:t>
            </a:r>
            <a:endParaRPr lang="ru-RU" sz="4000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Какие из следующих идентификаторов являются корректными?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1) 2int;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2) </a:t>
            </a:r>
            <a:r>
              <a:rPr lang="en-US" sz="3600" b="1" dirty="0" err="1"/>
              <a:t>int</a:t>
            </a:r>
            <a:r>
              <a:rPr lang="en-US" sz="3600" b="1" dirty="0"/>
              <a:t>_#;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3) _</a:t>
            </a:r>
            <a:r>
              <a:rPr lang="en-US" sz="3600" b="1" dirty="0" err="1"/>
              <a:t>int</a:t>
            </a:r>
            <a:r>
              <a:rPr lang="en-US" sz="3600" b="1" dirty="0"/>
              <a:t>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4) _2_;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5) $</a:t>
            </a:r>
            <a:r>
              <a:rPr lang="en-US" sz="3600" b="1" dirty="0" err="1"/>
              <a:t>int</a:t>
            </a:r>
            <a:r>
              <a:rPr lang="en-US" sz="3600" b="1" dirty="0"/>
              <a:t>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6) #int.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935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 fontScale="92500" lnSpcReduction="10000"/>
          </a:bodyPr>
          <a:lstStyle/>
          <a:p>
            <a:pPr>
              <a:buNone/>
              <a:defRPr/>
            </a:pPr>
            <a:r>
              <a:rPr lang="en-US" sz="4000" b="1" dirty="0"/>
              <a:t>58</a:t>
            </a:r>
            <a:endParaRPr lang="ru-RU" sz="4000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Какие из приведенных объявлений массивов корректны?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int</a:t>
            </a:r>
            <a:r>
              <a:rPr lang="en-US" sz="3600" b="1" dirty="0"/>
              <a:t> a1[] = {};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int</a:t>
            </a:r>
            <a:r>
              <a:rPr lang="en-US" sz="3600" b="1" dirty="0"/>
              <a:t> a2[] = new </a:t>
            </a:r>
            <a:r>
              <a:rPr lang="en-US" sz="3600" b="1" dirty="0" err="1"/>
              <a:t>int</a:t>
            </a:r>
            <a:r>
              <a:rPr lang="en-US" sz="3600" b="1" dirty="0"/>
              <a:t>[]{1,2,3};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int</a:t>
            </a:r>
            <a:r>
              <a:rPr lang="en-US" sz="3600" b="1" dirty="0"/>
              <a:t> a3[] = new </a:t>
            </a:r>
            <a:r>
              <a:rPr lang="en-US" sz="3600" b="1" dirty="0" err="1"/>
              <a:t>int</a:t>
            </a:r>
            <a:r>
              <a:rPr lang="en-US" sz="3600" b="1" dirty="0"/>
              <a:t>[](1,2,3);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int</a:t>
            </a:r>
            <a:r>
              <a:rPr lang="en-US" sz="3600" b="1" dirty="0"/>
              <a:t> a4[] = new </a:t>
            </a:r>
            <a:r>
              <a:rPr lang="en-US" sz="3600" b="1" dirty="0" err="1"/>
              <a:t>int</a:t>
            </a:r>
            <a:r>
              <a:rPr lang="en-US" sz="3600" b="1" dirty="0"/>
              <a:t>[3];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 err="1"/>
              <a:t>int</a:t>
            </a:r>
            <a:r>
              <a:rPr lang="en-US" sz="3600" b="1" dirty="0"/>
              <a:t> a5[] = new </a:t>
            </a:r>
            <a:r>
              <a:rPr lang="en-US" sz="3600" b="1" dirty="0" err="1"/>
              <a:t>int</a:t>
            </a:r>
            <a:r>
              <a:rPr lang="en-US" sz="3600" b="1" dirty="0"/>
              <a:t>[3]{1,2,3};</a:t>
            </a:r>
          </a:p>
          <a:p>
            <a:pPr>
              <a:defRPr/>
            </a:pPr>
            <a:r>
              <a:rPr lang="en-US" sz="3600" dirty="0"/>
              <a:t>1) a1;</a:t>
            </a:r>
          </a:p>
          <a:p>
            <a:pPr>
              <a:defRPr/>
            </a:pPr>
            <a:r>
              <a:rPr lang="en-US" sz="3600" dirty="0"/>
              <a:t>2) a2;</a:t>
            </a:r>
          </a:p>
          <a:p>
            <a:pPr>
              <a:defRPr/>
            </a:pPr>
            <a:r>
              <a:rPr lang="en-US" sz="3600" dirty="0"/>
              <a:t>3) a3;</a:t>
            </a:r>
          </a:p>
          <a:p>
            <a:pPr>
              <a:defRPr/>
            </a:pPr>
            <a:r>
              <a:rPr lang="en-US" sz="3600" dirty="0"/>
              <a:t>4) a4;</a:t>
            </a:r>
          </a:p>
          <a:p>
            <a:pPr>
              <a:defRPr/>
            </a:pPr>
            <a:r>
              <a:rPr lang="en-US" sz="3600" dirty="0"/>
              <a:t>5) a5.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70858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 fontScale="62500" lnSpcReduction="20000"/>
          </a:bodyPr>
          <a:lstStyle/>
          <a:p>
            <a:pPr>
              <a:buNone/>
              <a:defRPr/>
            </a:pPr>
            <a:r>
              <a:rPr lang="en-US" sz="4000" b="1" dirty="0"/>
              <a:t>59</a:t>
            </a:r>
            <a:endParaRPr lang="ru-RU" sz="4000" b="1" dirty="0"/>
          </a:p>
          <a:p>
            <a:pPr>
              <a:buNone/>
              <a:defRPr/>
            </a:pPr>
            <a:r>
              <a:rPr lang="ru-RU" sz="3600" b="1" dirty="0"/>
              <a:t>Дан код:</a:t>
            </a:r>
          </a:p>
          <a:p>
            <a:pPr>
              <a:buNone/>
              <a:defRPr/>
            </a:pPr>
            <a:r>
              <a:rPr lang="en-US" sz="3600" b="1" dirty="0"/>
              <a:t>public class Quest8{</a:t>
            </a:r>
          </a:p>
          <a:p>
            <a:pPr>
              <a:buNone/>
              <a:defRPr/>
            </a:pPr>
            <a:r>
              <a:rPr lang="en-US" sz="3600" b="1" dirty="0"/>
              <a:t>static </a:t>
            </a:r>
            <a:r>
              <a:rPr lang="en-US" sz="3600" b="1" dirty="0" err="1"/>
              <a:t>int</a:t>
            </a:r>
            <a:r>
              <a:rPr lang="en-US" sz="3600" b="1" dirty="0"/>
              <a:t> j = 2;</a:t>
            </a:r>
          </a:p>
          <a:p>
            <a:pPr>
              <a:buNone/>
              <a:defRPr/>
            </a:pPr>
            <a:r>
              <a:rPr lang="en-US" sz="3600" b="1" dirty="0"/>
              <a:t>public static void result(</a:t>
            </a:r>
            <a:r>
              <a:rPr lang="en-US" sz="3600" b="1" dirty="0" err="1"/>
              <a:t>int</a:t>
            </a:r>
            <a:r>
              <a:rPr lang="en-US" sz="3600" b="1" dirty="0"/>
              <a:t> </a:t>
            </a:r>
            <a:r>
              <a:rPr lang="en-US" sz="3600" b="1" dirty="0" err="1"/>
              <a:t>i</a:t>
            </a:r>
            <a:r>
              <a:rPr lang="en-US" sz="3600" b="1" dirty="0"/>
              <a:t>){</a:t>
            </a:r>
          </a:p>
          <a:p>
            <a:pPr>
              <a:buNone/>
              <a:defRPr/>
            </a:pPr>
            <a:r>
              <a:rPr lang="en-US" sz="3600" b="1" dirty="0" err="1"/>
              <a:t>i</a:t>
            </a:r>
            <a:r>
              <a:rPr lang="en-US" sz="3600" b="1" dirty="0"/>
              <a:t> *= 10;</a:t>
            </a:r>
          </a:p>
          <a:p>
            <a:pPr>
              <a:buNone/>
              <a:defRPr/>
            </a:pPr>
            <a:r>
              <a:rPr lang="en-US" sz="3600" b="1" dirty="0"/>
              <a:t>j += 2; }</a:t>
            </a:r>
          </a:p>
          <a:p>
            <a:pPr>
              <a:buNone/>
              <a:defRPr/>
            </a:pPr>
            <a:r>
              <a:rPr lang="en-US" sz="3600" b="1" dirty="0"/>
              <a:t>public static void main(String[] </a:t>
            </a:r>
            <a:r>
              <a:rPr lang="en-US" sz="3600" b="1" dirty="0" err="1"/>
              <a:t>args</a:t>
            </a:r>
            <a:r>
              <a:rPr lang="en-US" sz="3600" b="1" dirty="0"/>
              <a:t>){</a:t>
            </a:r>
          </a:p>
          <a:p>
            <a:pPr>
              <a:buNone/>
              <a:defRPr/>
            </a:pPr>
            <a:r>
              <a:rPr lang="en-US" sz="3600" b="1" dirty="0"/>
              <a:t>char </a:t>
            </a:r>
            <a:r>
              <a:rPr lang="en-US" sz="3600" b="1" dirty="0" err="1"/>
              <a:t>i</a:t>
            </a:r>
            <a:r>
              <a:rPr lang="en-US" sz="3600" b="1" dirty="0"/>
              <a:t> = ’1’;</a:t>
            </a:r>
          </a:p>
          <a:p>
            <a:pPr>
              <a:buNone/>
              <a:defRPr/>
            </a:pPr>
            <a:r>
              <a:rPr lang="en-US" sz="3600" b="1" dirty="0"/>
              <a:t>result(</a:t>
            </a:r>
            <a:r>
              <a:rPr lang="en-US" sz="3600" b="1" dirty="0" err="1"/>
              <a:t>i</a:t>
            </a:r>
            <a:r>
              <a:rPr lang="en-US" sz="3600" b="1" dirty="0"/>
              <a:t>);</a:t>
            </a:r>
          </a:p>
          <a:p>
            <a:pPr>
              <a:buNone/>
              <a:defRPr/>
            </a:pPr>
            <a:r>
              <a:rPr lang="en-US" sz="3600" b="1" dirty="0" err="1"/>
              <a:t>System.out.println</a:t>
            </a:r>
            <a:r>
              <a:rPr lang="en-US" sz="3600" b="1" dirty="0"/>
              <a:t>(</a:t>
            </a:r>
            <a:r>
              <a:rPr lang="en-US" sz="3600" b="1" dirty="0" err="1"/>
              <a:t>i</a:t>
            </a:r>
            <a:r>
              <a:rPr lang="en-US" sz="3600" b="1" dirty="0"/>
              <a:t> + " " + j); } }</a:t>
            </a:r>
          </a:p>
          <a:p>
            <a:pPr>
              <a:defRPr/>
            </a:pPr>
            <a:r>
              <a:rPr lang="ru-RU" sz="3600" dirty="0"/>
              <a:t>В результате компиляции и запуска будет выведено:</a:t>
            </a:r>
          </a:p>
          <a:p>
            <a:pPr>
              <a:defRPr/>
            </a:pPr>
            <a:r>
              <a:rPr lang="ru-RU" sz="3600" dirty="0"/>
              <a:t>1) ошибка компиляции: параметр метода </a:t>
            </a:r>
            <a:r>
              <a:rPr lang="ru-RU" sz="3600" dirty="0" err="1"/>
              <a:t>result</a:t>
            </a:r>
            <a:r>
              <a:rPr lang="ru-RU" sz="3600" dirty="0"/>
              <a:t>() не сочетается с передаваемой переменной ;</a:t>
            </a:r>
          </a:p>
          <a:p>
            <a:pPr>
              <a:defRPr/>
            </a:pPr>
            <a:r>
              <a:rPr lang="ru-RU" sz="3600" dirty="0"/>
              <a:t>2) 10 4;</a:t>
            </a:r>
          </a:p>
          <a:p>
            <a:pPr>
              <a:defRPr/>
            </a:pPr>
            <a:r>
              <a:rPr lang="ru-RU" sz="3600" dirty="0"/>
              <a:t>3) 1 4;</a:t>
            </a:r>
          </a:p>
          <a:p>
            <a:pPr>
              <a:defRPr/>
            </a:pPr>
            <a:r>
              <a:rPr lang="ru-RU" sz="3600" dirty="0"/>
              <a:t>4) 1 2;</a:t>
            </a:r>
          </a:p>
          <a:p>
            <a:pPr>
              <a:defRPr/>
            </a:pPr>
            <a:r>
              <a:rPr lang="ru-RU" sz="3600" dirty="0"/>
              <a:t>5) 10 2.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sz="3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6086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66875" y="142875"/>
            <a:ext cx="8858250" cy="6572250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sz="4000" b="1" dirty="0"/>
              <a:t>60</a:t>
            </a:r>
            <a:endParaRPr lang="ru-RU" sz="4000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3600" b="1" dirty="0"/>
              <a:t>Какие варианты записи оператора условного перехода корректны?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1) if (</a:t>
            </a:r>
            <a:r>
              <a:rPr lang="en-US" sz="3600" b="1" dirty="0" err="1"/>
              <a:t>i</a:t>
            </a:r>
            <a:r>
              <a:rPr lang="en-US" sz="3600" b="1" dirty="0"/>
              <a:t>&lt;j) { </a:t>
            </a:r>
            <a:r>
              <a:rPr lang="en-US" sz="3600" b="1" dirty="0" err="1"/>
              <a:t>System.out.print</a:t>
            </a:r>
            <a:r>
              <a:rPr lang="en-US" sz="3600" b="1" dirty="0"/>
              <a:t>("-1-"); }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2) if (</a:t>
            </a:r>
            <a:r>
              <a:rPr lang="en-US" sz="3600" b="1" dirty="0" err="1"/>
              <a:t>i</a:t>
            </a:r>
            <a:r>
              <a:rPr lang="en-US" sz="3600" b="1" dirty="0"/>
              <a:t>&lt;j) then </a:t>
            </a:r>
            <a:r>
              <a:rPr lang="en-US" sz="3600" b="1" dirty="0" err="1"/>
              <a:t>System.out.print</a:t>
            </a:r>
            <a:r>
              <a:rPr lang="en-US" sz="3600" b="1" dirty="0"/>
              <a:t>("-2-");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3) if </a:t>
            </a:r>
            <a:r>
              <a:rPr lang="en-US" sz="3600" b="1" dirty="0" err="1"/>
              <a:t>i</a:t>
            </a:r>
            <a:r>
              <a:rPr lang="en-US" sz="3600" b="1" dirty="0"/>
              <a:t>&lt;j { </a:t>
            </a:r>
            <a:r>
              <a:rPr lang="en-US" sz="3600" b="1" dirty="0" err="1"/>
              <a:t>System.out.print</a:t>
            </a:r>
            <a:r>
              <a:rPr lang="en-US" sz="3600" b="1" dirty="0"/>
              <a:t>("-3-"); }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4) if [</a:t>
            </a:r>
            <a:r>
              <a:rPr lang="en-US" sz="3600" b="1" dirty="0" err="1"/>
              <a:t>i</a:t>
            </a:r>
            <a:r>
              <a:rPr lang="en-US" sz="3600" b="1" dirty="0"/>
              <a:t>&lt;j] </a:t>
            </a:r>
            <a:r>
              <a:rPr lang="en-US" sz="3600" b="1" dirty="0" err="1"/>
              <a:t>System.out.print</a:t>
            </a:r>
            <a:r>
              <a:rPr lang="en-US" sz="3600" b="1" dirty="0"/>
              <a:t>("-4-");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5) if (</a:t>
            </a:r>
            <a:r>
              <a:rPr lang="en-US" sz="3600" b="1" dirty="0" err="1"/>
              <a:t>i</a:t>
            </a:r>
            <a:r>
              <a:rPr lang="en-US" sz="3600" b="1" dirty="0"/>
              <a:t>&lt;j) </a:t>
            </a:r>
            <a:r>
              <a:rPr lang="en-US" sz="3600" b="1" dirty="0" err="1"/>
              <a:t>System.out.print</a:t>
            </a:r>
            <a:r>
              <a:rPr lang="en-US" sz="3600" b="1" dirty="0"/>
              <a:t>("-5-");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3600" b="1" dirty="0"/>
              <a:t>6) if {</a:t>
            </a:r>
            <a:r>
              <a:rPr lang="en-US" sz="3600" b="1" dirty="0" err="1"/>
              <a:t>i</a:t>
            </a:r>
            <a:r>
              <a:rPr lang="en-US" sz="3600" b="1" dirty="0"/>
              <a:t>&lt;j} then </a:t>
            </a:r>
            <a:r>
              <a:rPr lang="en-US" sz="3600" b="1" dirty="0" err="1"/>
              <a:t>System.out.print</a:t>
            </a:r>
            <a:r>
              <a:rPr lang="en-US" sz="3600" b="1" dirty="0"/>
              <a:t>("-6-");.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5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sz="3800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390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5145</Words>
  <Application>Microsoft Office PowerPoint</Application>
  <PresentationFormat>Широкоэкранный</PresentationFormat>
  <Paragraphs>709</Paragraphs>
  <Slides>61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8" baseType="lpstr">
      <vt:lpstr>Arial</vt:lpstr>
      <vt:lpstr>Calibri</vt:lpstr>
      <vt:lpstr>Calibri Light</vt:lpstr>
      <vt:lpstr>JetBrains Mono</vt:lpstr>
      <vt:lpstr>Times New Roman</vt:lpstr>
      <vt:lpstr>Verdana</vt:lpstr>
      <vt:lpstr>Тема Office</vt:lpstr>
      <vt:lpstr>Презентация PowerPoint</vt:lpstr>
      <vt:lpstr>Вопрос 1 Какое утверждение относительно метода верно?</vt:lpstr>
      <vt:lpstr>Вопрос 2 Какое утверждение относительно объекта верно?</vt:lpstr>
      <vt:lpstr>Вопрос 3 Какая строка содержит конструктор в описании этого класса? </vt:lpstr>
      <vt:lpstr>Вопрос 4 Учитывая, что Thing — это класс, как много объектов и как много ссылочных переменных создается в следующем программном коде? </vt:lpstr>
      <vt:lpstr>Вопрос 5 Какое утверждение верно о члене экземпляра (instance member)? </vt:lpstr>
      <vt:lpstr>Вопрос 6 Учитывая следующий код, какое утверждение верно?</vt:lpstr>
      <vt:lpstr>Вопрос 7 Какую команду из Java SDK следует использовать для того, чтобы скомпилировать следующий код, содержащийся в файле SmallProg.java?</vt:lpstr>
      <vt:lpstr>Вопрос 8 Какую команду из Java SDK следует использовать для того, чтобы выполнить метод main() класса с именем SmallProg?</vt:lpstr>
      <vt:lpstr>Вопрос 9 Что из следующего не является разрешенным идентификатором? </vt:lpstr>
      <vt:lpstr>Вопрос 10 Какое утверждение верно? </vt:lpstr>
      <vt:lpstr>Вопрос 11 Что из перечисленного не представляет примитивное значение в Java? </vt:lpstr>
      <vt:lpstr>Вопрос 12 Какие из следующих примитивных типов данных не являются целыми типами? </vt:lpstr>
      <vt:lpstr>Вопрос 13 Что произойдет в результате попытки откомпилировать и выполнить следующую программу? </vt:lpstr>
      <vt:lpstr>Вопрос 14 Какая неверная строка первой вызовет ошибку на этапе компиляции следующей программы? </vt:lpstr>
      <vt:lpstr>Вопрос 15 Что произойдет в результате попытки откомпилировать и выполнить следующую программу? </vt:lpstr>
      <vt:lpstr>Вопрос 16 Что напечатает следующая программа во время выполнения? </vt:lpstr>
      <vt:lpstr>Вопрос 17 Какие утверждения верны? </vt:lpstr>
      <vt:lpstr>Вопрос 18 Какое из утверждений относительно того, какие строки будут выведены на консоль следующей программой, верно? </vt:lpstr>
      <vt:lpstr>Вопрос 19 Что произойдет во время выполнения следующей программы? </vt:lpstr>
      <vt:lpstr>Вопрос 20 Какое из утверждений верно относительно результата работы следующей программы?</vt:lpstr>
      <vt:lpstr>Вопрос 21 Что будет отображено на экране во время выполнения следующей программы?</vt:lpstr>
      <vt:lpstr>Вопрос 22 Что будет в результате попытки откомпилировать и выполнить следующий класс?</vt:lpstr>
      <vt:lpstr>Вопрос 23 Каков будет результат после выполнения следующей команды? Java Args In politics stupidity is not a handicap </vt:lpstr>
      <vt:lpstr>Вопрос 24 Какое выражение должно вызвать ошибку компиляции, если его добавить в про­грамму ниже в указанное положение?</vt:lpstr>
      <vt:lpstr>Вопрос 25 Что получится, если попытаться откомпилировать и выполнить следующую про­грамму?</vt:lpstr>
      <vt:lpstr>Вопрос 26 Дана следующая программа, какое предложение верно?</vt:lpstr>
      <vt:lpstr>Вопрос 27 Что получится, если попытаться откомпилировать и выполнить следующую программу?</vt:lpstr>
      <vt:lpstr>Вопрос 28 Для заданного класса какой из способов обращения к нему извне пакета net. basemaster является допустимым?</vt:lpstr>
      <vt:lpstr>Вопрос 29 Какое из следующих определений класса является верным определением класса, который нельзя расширить?</vt:lpstr>
      <vt:lpstr>Вопрос 30 Что, если есть, неправильно в этом коде?</vt:lpstr>
      <vt:lpstr>31. Какой интерфейс наиболее пригоден для создания класса, содержащего несортированные уникальные объекты? </vt:lpstr>
      <vt:lpstr>32. Какие из фрагментов кода создадут объект класса ArrayList и добавят элемент? </vt:lpstr>
      <vt:lpstr>33. Какой интерфейс реализует класс Hashtable? </vt:lpstr>
      <vt:lpstr>34. Дан код.  import java.util.*; class Test {     public static void main (String args[]) {         Object ob = new HashSet();         System.out.print((ob instanceof Set) + ", ");         System.out.print(ob instanceof SortedSet);     } }  </vt:lpstr>
      <vt:lpstr>35. Какие из приведенных ниже названий являются именами интерфейсов пакета java.util? </vt:lpstr>
      <vt:lpstr>36. Можно ли изменить корневой каталог, в который  вкладываются все пользовательские каталоги,   используя объект myfile класса File? Если это возможно, то с помощью какой инструкции?  </vt:lpstr>
      <vt:lpstr>37. Какой тип у возвращаемого значения метода hashCode() класса Objeсt? </vt:lpstr>
      <vt:lpstr>38. Какое утверждение верно? </vt:lpstr>
      <vt:lpstr>39. Что из нижеследующего есть класс-оболочка? </vt:lpstr>
      <vt:lpstr>40. Какой класс из ниже следующих не расширяет класс java.lang.Number? </vt:lpstr>
      <vt:lpstr>41. Какая строка следующего кода выведет в точности 11? </vt:lpstr>
      <vt:lpstr>42. В приведенных ниже парах объявлений методов какие операторы верны?  void fly(int distance) {} int fly(int time, int speed) {  return time*speed;  } void fall(int time) {} int fall(int distance) {  return distance;  } void glide(int time) {}  void Glide(int time) {}  </vt:lpstr>
      <vt:lpstr>43. Имеется класс с именем Book, какое из представленных объявлений конструкторов допустимо для класса?</vt:lpstr>
      <vt:lpstr>44. Какое утверждение верно?</vt:lpstr>
      <vt:lpstr>45. Что получится в результате попытки скомпилировать следующую программу?</vt:lpstr>
      <vt:lpstr>46. По предложенному ниже определению класса скажите, какие поля доступны извне пакета com.corporation.project?</vt:lpstr>
      <vt:lpstr>47. Оцените степень строгости доступа по умолчанию по сравнению с доступами public (общедоступный), protected (защищенный) и private (закрытый).</vt:lpstr>
      <vt:lpstr>48. Даны несколько объявлений. Какое из утверждений верно?</vt:lpstr>
      <vt:lpstr>49. Даны несколько объявлений. Какое из утверждений верно?</vt:lpstr>
      <vt:lpstr>50. Результат работы программы </vt:lpstr>
      <vt:lpstr>51. Какое значение будет возвращено при вызове метода show() из класса Nested? </vt:lpstr>
      <vt:lpstr>52. Какое значение будет возвращено при вызове метода show() из класса Nested?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ltso12</cp:lastModifiedBy>
  <cp:revision>45</cp:revision>
  <dcterms:created xsi:type="dcterms:W3CDTF">2015-10-12T09:41:18Z</dcterms:created>
  <dcterms:modified xsi:type="dcterms:W3CDTF">2025-03-07T11:57:35Z</dcterms:modified>
</cp:coreProperties>
</file>